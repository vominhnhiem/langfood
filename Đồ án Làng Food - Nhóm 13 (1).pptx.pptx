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ublic Sans Bold" charset="1" panose="00000000000000000000"/>
      <p:regular r:id="rId25"/>
    </p:embeddedFont>
    <p:embeddedFont>
      <p:font typeface="Public Sans"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5.png" Type="http://schemas.openxmlformats.org/officeDocument/2006/relationships/image"/><Relationship Id="rId4"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C1917"/>
        </a:solidFill>
      </p:bgPr>
    </p:bg>
    <p:spTree>
      <p:nvGrpSpPr>
        <p:cNvPr id="1" name=""/>
        <p:cNvGrpSpPr/>
        <p:nvPr/>
      </p:nvGrpSpPr>
      <p:grpSpPr>
        <a:xfrm>
          <a:off x="0" y="0"/>
          <a:ext cx="0" cy="0"/>
          <a:chOff x="0" y="0"/>
          <a:chExt cx="0" cy="0"/>
        </a:xfrm>
      </p:grpSpPr>
      <p:grpSp>
        <p:nvGrpSpPr>
          <p:cNvPr name="Group 2" id="2"/>
          <p:cNvGrpSpPr/>
          <p:nvPr/>
        </p:nvGrpSpPr>
        <p:grpSpPr>
          <a:xfrm rot="0">
            <a:off x="10058400" y="0"/>
            <a:ext cx="8229600" cy="10287000"/>
            <a:chOff x="0" y="0"/>
            <a:chExt cx="10972800" cy="13716000"/>
          </a:xfrm>
        </p:grpSpPr>
        <p:sp>
          <p:nvSpPr>
            <p:cNvPr name="Freeform 3" id="3" descr="image.png"/>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058400" y="0"/>
            <a:ext cx="8229600" cy="10287000"/>
            <a:chOff x="0" y="0"/>
            <a:chExt cx="10972800" cy="13716000"/>
          </a:xfrm>
        </p:grpSpPr>
        <p:sp>
          <p:nvSpPr>
            <p:cNvPr name="Freeform 5" id="5" descr="image.png"/>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lnTo>
                    <a:pt x="0" y="0"/>
                  </a:lnTo>
                  <a:close/>
                </a:path>
              </a:pathLst>
            </a:custGeom>
            <a:blipFill>
              <a:blip r:embed="rId3"/>
              <a:stretch>
                <a:fillRect l="0" t="0" r="0" b="0"/>
              </a:stretch>
            </a:blipFill>
          </p:spPr>
        </p:sp>
      </p:grpSp>
      <p:grpSp>
        <p:nvGrpSpPr>
          <p:cNvPr name="Group 6" id="6"/>
          <p:cNvGrpSpPr/>
          <p:nvPr/>
        </p:nvGrpSpPr>
        <p:grpSpPr>
          <a:xfrm rot="0">
            <a:off x="1135856" y="1981943"/>
            <a:ext cx="3943350" cy="557212"/>
            <a:chOff x="0" y="0"/>
            <a:chExt cx="5257800" cy="742950"/>
          </a:xfrm>
        </p:grpSpPr>
        <p:sp>
          <p:nvSpPr>
            <p:cNvPr name="Freeform 7" id="7"/>
            <p:cNvSpPr/>
            <p:nvPr/>
          </p:nvSpPr>
          <p:spPr>
            <a:xfrm flipH="false" flipV="false" rot="0">
              <a:off x="0" y="0"/>
              <a:ext cx="5257800" cy="742950"/>
            </a:xfrm>
            <a:custGeom>
              <a:avLst/>
              <a:gdLst/>
              <a:ahLst/>
              <a:cxnLst/>
              <a:rect r="r" b="b" t="t" l="l"/>
              <a:pathLst>
                <a:path h="742950" w="5257800">
                  <a:moveTo>
                    <a:pt x="0" y="234569"/>
                  </a:moveTo>
                  <a:cubicBezTo>
                    <a:pt x="0" y="105029"/>
                    <a:pt x="105029" y="0"/>
                    <a:pt x="234569" y="0"/>
                  </a:cubicBezTo>
                  <a:lnTo>
                    <a:pt x="5023231" y="0"/>
                  </a:lnTo>
                  <a:cubicBezTo>
                    <a:pt x="5152771" y="0"/>
                    <a:pt x="5257800" y="105029"/>
                    <a:pt x="5257800" y="234569"/>
                  </a:cubicBezTo>
                  <a:lnTo>
                    <a:pt x="5257800" y="508381"/>
                  </a:lnTo>
                  <a:cubicBezTo>
                    <a:pt x="5257800" y="637921"/>
                    <a:pt x="5152771" y="742950"/>
                    <a:pt x="5023231" y="742950"/>
                  </a:cubicBezTo>
                  <a:lnTo>
                    <a:pt x="234569" y="742950"/>
                  </a:lnTo>
                  <a:cubicBezTo>
                    <a:pt x="105029" y="742950"/>
                    <a:pt x="0" y="637921"/>
                    <a:pt x="0" y="508381"/>
                  </a:cubicBezTo>
                  <a:close/>
                </a:path>
              </a:pathLst>
            </a:custGeom>
            <a:solidFill>
              <a:srgbClr val="3E251A"/>
            </a:solidFill>
            <a:ln w="14288" cap="sq">
              <a:solidFill>
                <a:srgbClr val="60321D"/>
              </a:solidFill>
              <a:prstDash val="solid"/>
              <a:miter/>
            </a:ln>
          </p:spPr>
        </p:sp>
      </p:grpSp>
      <p:grpSp>
        <p:nvGrpSpPr>
          <p:cNvPr name="Group 8" id="8"/>
          <p:cNvGrpSpPr/>
          <p:nvPr/>
        </p:nvGrpSpPr>
        <p:grpSpPr>
          <a:xfrm rot="0">
            <a:off x="1143000" y="7126338"/>
            <a:ext cx="7772400" cy="14288"/>
            <a:chOff x="0" y="0"/>
            <a:chExt cx="10363200" cy="19050"/>
          </a:xfrm>
        </p:grpSpPr>
        <p:sp>
          <p:nvSpPr>
            <p:cNvPr name="Freeform 9" id="9"/>
            <p:cNvSpPr/>
            <p:nvPr/>
          </p:nvSpPr>
          <p:spPr>
            <a:xfrm flipH="false" flipV="false" rot="0">
              <a:off x="0" y="0"/>
              <a:ext cx="10363200" cy="19050"/>
            </a:xfrm>
            <a:custGeom>
              <a:avLst/>
              <a:gdLst/>
              <a:ahLst/>
              <a:cxnLst/>
              <a:rect r="r" b="b" t="t" l="l"/>
              <a:pathLst>
                <a:path h="19050" w="10363200">
                  <a:moveTo>
                    <a:pt x="0" y="0"/>
                  </a:moveTo>
                  <a:lnTo>
                    <a:pt x="10363200" y="0"/>
                  </a:lnTo>
                  <a:lnTo>
                    <a:pt x="10363200" y="19050"/>
                  </a:lnTo>
                  <a:lnTo>
                    <a:pt x="0" y="19050"/>
                  </a:lnTo>
                  <a:close/>
                </a:path>
              </a:pathLst>
            </a:custGeom>
            <a:solidFill>
              <a:srgbClr val="44403C"/>
            </a:solidFill>
          </p:spPr>
        </p:sp>
      </p:grpSp>
      <p:grpSp>
        <p:nvGrpSpPr>
          <p:cNvPr name="Group 10" id="10"/>
          <p:cNvGrpSpPr/>
          <p:nvPr/>
        </p:nvGrpSpPr>
        <p:grpSpPr>
          <a:xfrm rot="0">
            <a:off x="1385888" y="2146249"/>
            <a:ext cx="242888" cy="228600"/>
            <a:chOff x="0" y="0"/>
            <a:chExt cx="323850" cy="304800"/>
          </a:xfrm>
        </p:grpSpPr>
        <p:sp>
          <p:nvSpPr>
            <p:cNvPr name="Freeform 11" id="11" descr="image.png"/>
            <p:cNvSpPr/>
            <p:nvPr/>
          </p:nvSpPr>
          <p:spPr>
            <a:xfrm flipH="false" flipV="false" rot="0">
              <a:off x="0" y="0"/>
              <a:ext cx="323850" cy="304800"/>
            </a:xfrm>
            <a:custGeom>
              <a:avLst/>
              <a:gdLst/>
              <a:ahLst/>
              <a:cxnLst/>
              <a:rect r="r" b="b" t="t" l="l"/>
              <a:pathLst>
                <a:path h="304800" w="323850">
                  <a:moveTo>
                    <a:pt x="0" y="0"/>
                  </a:moveTo>
                  <a:lnTo>
                    <a:pt x="323850" y="0"/>
                  </a:lnTo>
                  <a:lnTo>
                    <a:pt x="323850" y="304800"/>
                  </a:lnTo>
                  <a:lnTo>
                    <a:pt x="0" y="304800"/>
                  </a:lnTo>
                  <a:lnTo>
                    <a:pt x="0" y="0"/>
                  </a:lnTo>
                  <a:close/>
                </a:path>
              </a:pathLst>
            </a:custGeom>
            <a:blipFill>
              <a:blip r:embed="rId4"/>
              <a:stretch>
                <a:fillRect l="0" t="-3125" r="0" b="-3125"/>
              </a:stretch>
            </a:blipFill>
          </p:spPr>
        </p:sp>
      </p:grpSp>
      <p:sp>
        <p:nvSpPr>
          <p:cNvPr name="TextBox 12" id="12"/>
          <p:cNvSpPr txBox="true"/>
          <p:nvPr/>
        </p:nvSpPr>
        <p:spPr>
          <a:xfrm rot="0">
            <a:off x="1143000" y="2941587"/>
            <a:ext cx="8311039" cy="2284095"/>
          </a:xfrm>
          <a:prstGeom prst="rect">
            <a:avLst/>
          </a:prstGeom>
        </p:spPr>
        <p:txBody>
          <a:bodyPr anchor="t" rtlCol="false" tIns="0" lIns="0" bIns="0" rIns="0">
            <a:spAutoFit/>
          </a:bodyPr>
          <a:lstStyle/>
          <a:p>
            <a:pPr algn="l">
              <a:lnSpc>
                <a:spcPts val="8910"/>
              </a:lnSpc>
            </a:pPr>
            <a:r>
              <a:rPr lang="en-US" sz="8100" b="true">
                <a:solidFill>
                  <a:srgbClr val="FFFFFF"/>
                </a:solidFill>
                <a:latin typeface="Public Sans Bold"/>
                <a:ea typeface="Public Sans Bold"/>
                <a:cs typeface="Public Sans Bold"/>
                <a:sym typeface="Public Sans Bold"/>
              </a:rPr>
              <a:t>Bản đồ &amp; Định vị</a:t>
            </a:r>
          </a:p>
          <a:p>
            <a:pPr algn="l">
              <a:lnSpc>
                <a:spcPts val="8910"/>
              </a:lnSpc>
            </a:pPr>
            <a:r>
              <a:rPr lang="en-US" sz="8100" b="true">
                <a:solidFill>
                  <a:srgbClr val="FFFFFF"/>
                </a:solidFill>
                <a:latin typeface="Public Sans Bold"/>
                <a:ea typeface="Public Sans Bold"/>
                <a:cs typeface="Public Sans Bold"/>
                <a:sym typeface="Public Sans Bold"/>
              </a:rPr>
              <a:t> Thời gian thực</a:t>
            </a:r>
          </a:p>
        </p:txBody>
      </p:sp>
      <p:sp>
        <p:nvSpPr>
          <p:cNvPr name="TextBox 13" id="13"/>
          <p:cNvSpPr txBox="true"/>
          <p:nvPr/>
        </p:nvSpPr>
        <p:spPr>
          <a:xfrm rot="0">
            <a:off x="1143000" y="5423449"/>
            <a:ext cx="7286625" cy="941070"/>
          </a:xfrm>
          <a:prstGeom prst="rect">
            <a:avLst/>
          </a:prstGeom>
        </p:spPr>
        <p:txBody>
          <a:bodyPr anchor="t" rtlCol="false" tIns="0" lIns="0" bIns="0" rIns="0">
            <a:spAutoFit/>
          </a:bodyPr>
          <a:lstStyle/>
          <a:p>
            <a:pPr algn="l">
              <a:lnSpc>
                <a:spcPts val="3779"/>
              </a:lnSpc>
            </a:pPr>
            <a:r>
              <a:rPr lang="en-US" sz="2700">
                <a:solidFill>
                  <a:srgbClr val="D6D3D1"/>
                </a:solidFill>
                <a:latin typeface="Public Sans"/>
                <a:ea typeface="Public Sans"/>
                <a:cs typeface="Public Sans"/>
                <a:sym typeface="Public Sans"/>
              </a:rPr>
              <a:t>Giải pháp không gian khép kín cho dự án Làng Food KTX Khu B.</a:t>
            </a:r>
          </a:p>
        </p:txBody>
      </p:sp>
      <p:sp>
        <p:nvSpPr>
          <p:cNvPr name="TextBox 14" id="14"/>
          <p:cNvSpPr txBox="true"/>
          <p:nvPr/>
        </p:nvSpPr>
        <p:spPr>
          <a:xfrm rot="0">
            <a:off x="1624012" y="2117674"/>
            <a:ext cx="3152924" cy="266700"/>
          </a:xfrm>
          <a:prstGeom prst="rect">
            <a:avLst/>
          </a:prstGeom>
        </p:spPr>
        <p:txBody>
          <a:bodyPr anchor="t" rtlCol="false" tIns="0" lIns="0" bIns="0" rIns="0">
            <a:spAutoFit/>
          </a:bodyPr>
          <a:lstStyle/>
          <a:p>
            <a:pPr algn="l">
              <a:lnSpc>
                <a:spcPts val="2160"/>
              </a:lnSpc>
            </a:pPr>
            <a:r>
              <a:rPr lang="en-US" sz="1800" b="true">
                <a:solidFill>
                  <a:srgbClr val="FF6B2B"/>
                </a:solidFill>
                <a:latin typeface="Public Sans Bold"/>
                <a:ea typeface="Public Sans Bold"/>
                <a:cs typeface="Public Sans Bold"/>
                <a:sym typeface="Public Sans Bold"/>
              </a:rPr>
              <a:t>Lập trình trên thiết bị di động</a:t>
            </a:r>
          </a:p>
        </p:txBody>
      </p:sp>
      <p:sp>
        <p:nvSpPr>
          <p:cNvPr name="TextBox 15" id="15"/>
          <p:cNvSpPr txBox="true"/>
          <p:nvPr/>
        </p:nvSpPr>
        <p:spPr>
          <a:xfrm rot="0">
            <a:off x="1143000" y="7588301"/>
            <a:ext cx="1573411" cy="247650"/>
          </a:xfrm>
          <a:prstGeom prst="rect">
            <a:avLst/>
          </a:prstGeom>
        </p:spPr>
        <p:txBody>
          <a:bodyPr anchor="t" rtlCol="false" tIns="0" lIns="0" bIns="0" rIns="0">
            <a:spAutoFit/>
          </a:bodyPr>
          <a:lstStyle/>
          <a:p>
            <a:pPr algn="l">
              <a:lnSpc>
                <a:spcPts val="1889"/>
              </a:lnSpc>
            </a:pPr>
            <a:r>
              <a:rPr lang="en-US" sz="1575">
                <a:solidFill>
                  <a:srgbClr val="A8A29E"/>
                </a:solidFill>
                <a:latin typeface="Public Sans"/>
                <a:ea typeface="Public Sans"/>
                <a:cs typeface="Public Sans"/>
                <a:sym typeface="Public Sans"/>
              </a:rPr>
              <a:t>GV HƯỚNG DẪN</a:t>
            </a:r>
          </a:p>
        </p:txBody>
      </p:sp>
      <p:sp>
        <p:nvSpPr>
          <p:cNvPr name="TextBox 16" id="16"/>
          <p:cNvSpPr txBox="true"/>
          <p:nvPr/>
        </p:nvSpPr>
        <p:spPr>
          <a:xfrm rot="0">
            <a:off x="1143000" y="7945488"/>
            <a:ext cx="3417391" cy="352425"/>
          </a:xfrm>
          <a:prstGeom prst="rect">
            <a:avLst/>
          </a:prstGeom>
        </p:spPr>
        <p:txBody>
          <a:bodyPr anchor="t" rtlCol="false" tIns="0" lIns="0" bIns="0" rIns="0">
            <a:spAutoFit/>
          </a:bodyPr>
          <a:lstStyle/>
          <a:p>
            <a:pPr algn="l">
              <a:lnSpc>
                <a:spcPts val="2700"/>
              </a:lnSpc>
            </a:pPr>
            <a:r>
              <a:rPr lang="en-US" sz="2250" b="true">
                <a:solidFill>
                  <a:srgbClr val="F5F5F4"/>
                </a:solidFill>
                <a:latin typeface="Public Sans Bold"/>
                <a:ea typeface="Public Sans Bold"/>
                <a:cs typeface="Public Sans Bold"/>
                <a:sym typeface="Public Sans Bold"/>
              </a:rPr>
              <a:t>Thầy Nguyễn Mạnh Hùng</a:t>
            </a:r>
          </a:p>
        </p:txBody>
      </p:sp>
      <p:sp>
        <p:nvSpPr>
          <p:cNvPr name="TextBox 17" id="17"/>
          <p:cNvSpPr txBox="true"/>
          <p:nvPr/>
        </p:nvSpPr>
        <p:spPr>
          <a:xfrm rot="0">
            <a:off x="4843462" y="7588301"/>
            <a:ext cx="1102668" cy="247650"/>
          </a:xfrm>
          <a:prstGeom prst="rect">
            <a:avLst/>
          </a:prstGeom>
        </p:spPr>
        <p:txBody>
          <a:bodyPr anchor="t" rtlCol="false" tIns="0" lIns="0" bIns="0" rIns="0">
            <a:spAutoFit/>
          </a:bodyPr>
          <a:lstStyle/>
          <a:p>
            <a:pPr algn="l">
              <a:lnSpc>
                <a:spcPts val="1889"/>
              </a:lnSpc>
            </a:pPr>
            <a:r>
              <a:rPr lang="en-US" sz="1575">
                <a:solidFill>
                  <a:srgbClr val="A8A29E"/>
                </a:solidFill>
                <a:latin typeface="Public Sans"/>
                <a:ea typeface="Public Sans"/>
                <a:cs typeface="Public Sans"/>
                <a:sym typeface="Public Sans"/>
              </a:rPr>
              <a:t>THỰC HIỆN</a:t>
            </a:r>
          </a:p>
        </p:txBody>
      </p:sp>
      <p:sp>
        <p:nvSpPr>
          <p:cNvPr name="TextBox 18" id="18"/>
          <p:cNvSpPr txBox="true"/>
          <p:nvPr/>
        </p:nvSpPr>
        <p:spPr>
          <a:xfrm rot="0">
            <a:off x="4843462" y="7945488"/>
            <a:ext cx="1184225" cy="352425"/>
          </a:xfrm>
          <a:prstGeom prst="rect">
            <a:avLst/>
          </a:prstGeom>
        </p:spPr>
        <p:txBody>
          <a:bodyPr anchor="t" rtlCol="false" tIns="0" lIns="0" bIns="0" rIns="0">
            <a:spAutoFit/>
          </a:bodyPr>
          <a:lstStyle/>
          <a:p>
            <a:pPr algn="l">
              <a:lnSpc>
                <a:spcPts val="2700"/>
              </a:lnSpc>
            </a:pPr>
            <a:r>
              <a:rPr lang="en-US" sz="2250" b="true">
                <a:solidFill>
                  <a:srgbClr val="F5F5F4"/>
                </a:solidFill>
                <a:latin typeface="Public Sans Bold"/>
                <a:ea typeface="Public Sans Bold"/>
                <a:cs typeface="Public Sans Bold"/>
                <a:sym typeface="Public Sans Bold"/>
              </a:rPr>
              <a:t>Nhóm 13</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143000" y="3457575"/>
            <a:ext cx="7829550" cy="2486025"/>
            <a:chOff x="0" y="0"/>
            <a:chExt cx="10439400" cy="3314700"/>
          </a:xfrm>
        </p:grpSpPr>
        <p:sp>
          <p:nvSpPr>
            <p:cNvPr name="Freeform 3" id="3"/>
            <p:cNvSpPr/>
            <p:nvPr/>
          </p:nvSpPr>
          <p:spPr>
            <a:xfrm flipH="false" flipV="false" rot="0">
              <a:off x="0" y="0"/>
              <a:ext cx="10439400" cy="3314700"/>
            </a:xfrm>
            <a:custGeom>
              <a:avLst/>
              <a:gdLst/>
              <a:ahLst/>
              <a:cxnLst/>
              <a:rect r="r" b="b" t="t" l="l"/>
              <a:pathLst>
                <a:path h="3314700" w="10439400">
                  <a:moveTo>
                    <a:pt x="0" y="457200"/>
                  </a:moveTo>
                  <a:cubicBezTo>
                    <a:pt x="0" y="204724"/>
                    <a:pt x="204724" y="0"/>
                    <a:pt x="457200" y="0"/>
                  </a:cubicBezTo>
                  <a:lnTo>
                    <a:pt x="9982200" y="0"/>
                  </a:lnTo>
                  <a:cubicBezTo>
                    <a:pt x="10234676" y="0"/>
                    <a:pt x="10439400" y="204724"/>
                    <a:pt x="10439400" y="457200"/>
                  </a:cubicBezTo>
                  <a:lnTo>
                    <a:pt x="10439400" y="2857500"/>
                  </a:lnTo>
                  <a:cubicBezTo>
                    <a:pt x="10439400" y="3109976"/>
                    <a:pt x="10234676" y="3314700"/>
                    <a:pt x="9982200" y="3314700"/>
                  </a:cubicBezTo>
                  <a:lnTo>
                    <a:pt x="457200" y="3314700"/>
                  </a:lnTo>
                  <a:cubicBezTo>
                    <a:pt x="204724" y="3314700"/>
                    <a:pt x="0" y="3109976"/>
                    <a:pt x="0" y="2857500"/>
                  </a:cubicBezTo>
                  <a:close/>
                </a:path>
              </a:pathLst>
            </a:custGeom>
            <a:solidFill>
              <a:srgbClr val="FFFFFF"/>
            </a:solidFill>
          </p:spPr>
        </p:sp>
      </p:grpSp>
      <p:grpSp>
        <p:nvGrpSpPr>
          <p:cNvPr name="Group 4" id="4"/>
          <p:cNvGrpSpPr/>
          <p:nvPr/>
        </p:nvGrpSpPr>
        <p:grpSpPr>
          <a:xfrm rot="0">
            <a:off x="9315450" y="3457575"/>
            <a:ext cx="7829550" cy="2486025"/>
            <a:chOff x="0" y="0"/>
            <a:chExt cx="10439400" cy="3314700"/>
          </a:xfrm>
        </p:grpSpPr>
        <p:sp>
          <p:nvSpPr>
            <p:cNvPr name="Freeform 5" id="5"/>
            <p:cNvSpPr/>
            <p:nvPr/>
          </p:nvSpPr>
          <p:spPr>
            <a:xfrm flipH="false" flipV="false" rot="0">
              <a:off x="0" y="0"/>
              <a:ext cx="10439400" cy="3314700"/>
            </a:xfrm>
            <a:custGeom>
              <a:avLst/>
              <a:gdLst/>
              <a:ahLst/>
              <a:cxnLst/>
              <a:rect r="r" b="b" t="t" l="l"/>
              <a:pathLst>
                <a:path h="3314700" w="10439400">
                  <a:moveTo>
                    <a:pt x="0" y="457200"/>
                  </a:moveTo>
                  <a:cubicBezTo>
                    <a:pt x="0" y="204724"/>
                    <a:pt x="204724" y="0"/>
                    <a:pt x="457200" y="0"/>
                  </a:cubicBezTo>
                  <a:lnTo>
                    <a:pt x="9982200" y="0"/>
                  </a:lnTo>
                  <a:cubicBezTo>
                    <a:pt x="10234676" y="0"/>
                    <a:pt x="10439400" y="204724"/>
                    <a:pt x="10439400" y="457200"/>
                  </a:cubicBezTo>
                  <a:lnTo>
                    <a:pt x="10439400" y="2857500"/>
                  </a:lnTo>
                  <a:cubicBezTo>
                    <a:pt x="10439400" y="3109976"/>
                    <a:pt x="10234676" y="3314700"/>
                    <a:pt x="9982200" y="3314700"/>
                  </a:cubicBezTo>
                  <a:lnTo>
                    <a:pt x="457200" y="3314700"/>
                  </a:lnTo>
                  <a:cubicBezTo>
                    <a:pt x="204724" y="3314700"/>
                    <a:pt x="0" y="3109976"/>
                    <a:pt x="0" y="2857500"/>
                  </a:cubicBezTo>
                  <a:close/>
                </a:path>
              </a:pathLst>
            </a:custGeom>
            <a:solidFill>
              <a:srgbClr val="FFFFFF"/>
            </a:solidFill>
          </p:spPr>
        </p:sp>
      </p:grpSp>
      <p:grpSp>
        <p:nvGrpSpPr>
          <p:cNvPr name="Group 6" id="6"/>
          <p:cNvGrpSpPr/>
          <p:nvPr/>
        </p:nvGrpSpPr>
        <p:grpSpPr>
          <a:xfrm rot="0">
            <a:off x="1143000" y="6286500"/>
            <a:ext cx="7829550" cy="2486025"/>
            <a:chOff x="0" y="0"/>
            <a:chExt cx="10439400" cy="3314700"/>
          </a:xfrm>
        </p:grpSpPr>
        <p:sp>
          <p:nvSpPr>
            <p:cNvPr name="Freeform 7" id="7"/>
            <p:cNvSpPr/>
            <p:nvPr/>
          </p:nvSpPr>
          <p:spPr>
            <a:xfrm flipH="false" flipV="false" rot="0">
              <a:off x="0" y="0"/>
              <a:ext cx="10439400" cy="3314700"/>
            </a:xfrm>
            <a:custGeom>
              <a:avLst/>
              <a:gdLst/>
              <a:ahLst/>
              <a:cxnLst/>
              <a:rect r="r" b="b" t="t" l="l"/>
              <a:pathLst>
                <a:path h="3314700" w="10439400">
                  <a:moveTo>
                    <a:pt x="0" y="457200"/>
                  </a:moveTo>
                  <a:cubicBezTo>
                    <a:pt x="0" y="204724"/>
                    <a:pt x="204724" y="0"/>
                    <a:pt x="457200" y="0"/>
                  </a:cubicBezTo>
                  <a:lnTo>
                    <a:pt x="9982200" y="0"/>
                  </a:lnTo>
                  <a:cubicBezTo>
                    <a:pt x="10234676" y="0"/>
                    <a:pt x="10439400" y="204724"/>
                    <a:pt x="10439400" y="457200"/>
                  </a:cubicBezTo>
                  <a:lnTo>
                    <a:pt x="10439400" y="2857500"/>
                  </a:lnTo>
                  <a:cubicBezTo>
                    <a:pt x="10439400" y="3109976"/>
                    <a:pt x="10234676" y="3314700"/>
                    <a:pt x="9982200" y="3314700"/>
                  </a:cubicBezTo>
                  <a:lnTo>
                    <a:pt x="457200" y="3314700"/>
                  </a:lnTo>
                  <a:cubicBezTo>
                    <a:pt x="204724" y="3314700"/>
                    <a:pt x="0" y="3109976"/>
                    <a:pt x="0" y="2857500"/>
                  </a:cubicBezTo>
                  <a:close/>
                </a:path>
              </a:pathLst>
            </a:custGeom>
            <a:solidFill>
              <a:srgbClr val="FFFFFF"/>
            </a:solidFill>
          </p:spPr>
        </p:sp>
      </p:grpSp>
      <p:grpSp>
        <p:nvGrpSpPr>
          <p:cNvPr name="Group 8" id="8"/>
          <p:cNvGrpSpPr/>
          <p:nvPr/>
        </p:nvGrpSpPr>
        <p:grpSpPr>
          <a:xfrm rot="0">
            <a:off x="9315450" y="6286500"/>
            <a:ext cx="7829550" cy="2486025"/>
            <a:chOff x="0" y="0"/>
            <a:chExt cx="10439400" cy="3314700"/>
          </a:xfrm>
        </p:grpSpPr>
        <p:sp>
          <p:nvSpPr>
            <p:cNvPr name="Freeform 9" id="9"/>
            <p:cNvSpPr/>
            <p:nvPr/>
          </p:nvSpPr>
          <p:spPr>
            <a:xfrm flipH="false" flipV="false" rot="0">
              <a:off x="0" y="0"/>
              <a:ext cx="10439400" cy="3314700"/>
            </a:xfrm>
            <a:custGeom>
              <a:avLst/>
              <a:gdLst/>
              <a:ahLst/>
              <a:cxnLst/>
              <a:rect r="r" b="b" t="t" l="l"/>
              <a:pathLst>
                <a:path h="3314700" w="10439400">
                  <a:moveTo>
                    <a:pt x="0" y="457200"/>
                  </a:moveTo>
                  <a:cubicBezTo>
                    <a:pt x="0" y="204724"/>
                    <a:pt x="204724" y="0"/>
                    <a:pt x="457200" y="0"/>
                  </a:cubicBezTo>
                  <a:lnTo>
                    <a:pt x="9982200" y="0"/>
                  </a:lnTo>
                  <a:cubicBezTo>
                    <a:pt x="10234676" y="0"/>
                    <a:pt x="10439400" y="204724"/>
                    <a:pt x="10439400" y="457200"/>
                  </a:cubicBezTo>
                  <a:lnTo>
                    <a:pt x="10439400" y="2857500"/>
                  </a:lnTo>
                  <a:cubicBezTo>
                    <a:pt x="10439400" y="3109976"/>
                    <a:pt x="10234676" y="3314700"/>
                    <a:pt x="9982200" y="3314700"/>
                  </a:cubicBezTo>
                  <a:lnTo>
                    <a:pt x="457200" y="3314700"/>
                  </a:lnTo>
                  <a:cubicBezTo>
                    <a:pt x="204724" y="3314700"/>
                    <a:pt x="0" y="3109976"/>
                    <a:pt x="0" y="2857500"/>
                  </a:cubicBezTo>
                  <a:close/>
                </a:path>
              </a:pathLst>
            </a:custGeom>
            <a:solidFill>
              <a:srgbClr val="FFFFFF"/>
            </a:solidFill>
          </p:spPr>
        </p:sp>
      </p:grpSp>
      <p:grpSp>
        <p:nvGrpSpPr>
          <p:cNvPr name="Group 10" id="10"/>
          <p:cNvGrpSpPr/>
          <p:nvPr/>
        </p:nvGrpSpPr>
        <p:grpSpPr>
          <a:xfrm rot="0">
            <a:off x="1143000" y="3457575"/>
            <a:ext cx="85725" cy="2486025"/>
            <a:chOff x="0" y="0"/>
            <a:chExt cx="114300" cy="3314700"/>
          </a:xfrm>
        </p:grpSpPr>
        <p:sp>
          <p:nvSpPr>
            <p:cNvPr name="Freeform 11" id="11"/>
            <p:cNvSpPr/>
            <p:nvPr/>
          </p:nvSpPr>
          <p:spPr>
            <a:xfrm flipH="false" flipV="false" rot="0">
              <a:off x="0" y="0"/>
              <a:ext cx="114300" cy="3314700"/>
            </a:xfrm>
            <a:custGeom>
              <a:avLst/>
              <a:gdLst/>
              <a:ahLst/>
              <a:cxnLst/>
              <a:rect r="r" b="b" t="t" l="l"/>
              <a:pathLst>
                <a:path h="3314700" w="114300">
                  <a:moveTo>
                    <a:pt x="0" y="0"/>
                  </a:moveTo>
                  <a:lnTo>
                    <a:pt x="114300" y="0"/>
                  </a:lnTo>
                  <a:lnTo>
                    <a:pt x="114300" y="3314700"/>
                  </a:lnTo>
                  <a:lnTo>
                    <a:pt x="0" y="3314700"/>
                  </a:lnTo>
                  <a:close/>
                </a:path>
              </a:pathLst>
            </a:custGeom>
            <a:solidFill>
              <a:srgbClr val="EA580C"/>
            </a:solidFill>
          </p:spPr>
        </p:sp>
      </p:grpSp>
      <p:grpSp>
        <p:nvGrpSpPr>
          <p:cNvPr name="Group 12" id="12"/>
          <p:cNvGrpSpPr/>
          <p:nvPr/>
        </p:nvGrpSpPr>
        <p:grpSpPr>
          <a:xfrm rot="0">
            <a:off x="9315450" y="3457575"/>
            <a:ext cx="85725" cy="2486025"/>
            <a:chOff x="0" y="0"/>
            <a:chExt cx="114300" cy="3314700"/>
          </a:xfrm>
        </p:grpSpPr>
        <p:sp>
          <p:nvSpPr>
            <p:cNvPr name="Freeform 13" id="13"/>
            <p:cNvSpPr/>
            <p:nvPr/>
          </p:nvSpPr>
          <p:spPr>
            <a:xfrm flipH="false" flipV="false" rot="0">
              <a:off x="0" y="0"/>
              <a:ext cx="114300" cy="3314700"/>
            </a:xfrm>
            <a:custGeom>
              <a:avLst/>
              <a:gdLst/>
              <a:ahLst/>
              <a:cxnLst/>
              <a:rect r="r" b="b" t="t" l="l"/>
              <a:pathLst>
                <a:path h="3314700" w="114300">
                  <a:moveTo>
                    <a:pt x="0" y="0"/>
                  </a:moveTo>
                  <a:lnTo>
                    <a:pt x="114300" y="0"/>
                  </a:lnTo>
                  <a:lnTo>
                    <a:pt x="114300" y="3314700"/>
                  </a:lnTo>
                  <a:lnTo>
                    <a:pt x="0" y="3314700"/>
                  </a:lnTo>
                  <a:close/>
                </a:path>
              </a:pathLst>
            </a:custGeom>
            <a:solidFill>
              <a:srgbClr val="0D9488"/>
            </a:solidFill>
          </p:spPr>
        </p:sp>
      </p:grpSp>
      <p:grpSp>
        <p:nvGrpSpPr>
          <p:cNvPr name="Group 14" id="14"/>
          <p:cNvGrpSpPr/>
          <p:nvPr/>
        </p:nvGrpSpPr>
        <p:grpSpPr>
          <a:xfrm rot="0">
            <a:off x="1143000" y="6286500"/>
            <a:ext cx="85725" cy="2486025"/>
            <a:chOff x="0" y="0"/>
            <a:chExt cx="114300" cy="3314700"/>
          </a:xfrm>
        </p:grpSpPr>
        <p:sp>
          <p:nvSpPr>
            <p:cNvPr name="Freeform 15" id="15"/>
            <p:cNvSpPr/>
            <p:nvPr/>
          </p:nvSpPr>
          <p:spPr>
            <a:xfrm flipH="false" flipV="false" rot="0">
              <a:off x="0" y="0"/>
              <a:ext cx="114300" cy="3314700"/>
            </a:xfrm>
            <a:custGeom>
              <a:avLst/>
              <a:gdLst/>
              <a:ahLst/>
              <a:cxnLst/>
              <a:rect r="r" b="b" t="t" l="l"/>
              <a:pathLst>
                <a:path h="3314700" w="114300">
                  <a:moveTo>
                    <a:pt x="0" y="0"/>
                  </a:moveTo>
                  <a:lnTo>
                    <a:pt x="114300" y="0"/>
                  </a:lnTo>
                  <a:lnTo>
                    <a:pt x="114300" y="3314700"/>
                  </a:lnTo>
                  <a:lnTo>
                    <a:pt x="0" y="3314700"/>
                  </a:lnTo>
                  <a:close/>
                </a:path>
              </a:pathLst>
            </a:custGeom>
            <a:solidFill>
              <a:srgbClr val="EA580C"/>
            </a:solidFill>
          </p:spPr>
        </p:sp>
      </p:grpSp>
      <p:grpSp>
        <p:nvGrpSpPr>
          <p:cNvPr name="Group 16" id="16"/>
          <p:cNvGrpSpPr/>
          <p:nvPr/>
        </p:nvGrpSpPr>
        <p:grpSpPr>
          <a:xfrm rot="0">
            <a:off x="9315450" y="6286500"/>
            <a:ext cx="85725" cy="2486025"/>
            <a:chOff x="0" y="0"/>
            <a:chExt cx="114300" cy="3314700"/>
          </a:xfrm>
        </p:grpSpPr>
        <p:sp>
          <p:nvSpPr>
            <p:cNvPr name="Freeform 17" id="17"/>
            <p:cNvSpPr/>
            <p:nvPr/>
          </p:nvSpPr>
          <p:spPr>
            <a:xfrm flipH="false" flipV="false" rot="0">
              <a:off x="0" y="0"/>
              <a:ext cx="114300" cy="3314700"/>
            </a:xfrm>
            <a:custGeom>
              <a:avLst/>
              <a:gdLst/>
              <a:ahLst/>
              <a:cxnLst/>
              <a:rect r="r" b="b" t="t" l="l"/>
              <a:pathLst>
                <a:path h="3314700" w="114300">
                  <a:moveTo>
                    <a:pt x="0" y="0"/>
                  </a:moveTo>
                  <a:lnTo>
                    <a:pt x="114300" y="0"/>
                  </a:lnTo>
                  <a:lnTo>
                    <a:pt x="114300" y="3314700"/>
                  </a:lnTo>
                  <a:lnTo>
                    <a:pt x="0" y="3314700"/>
                  </a:lnTo>
                  <a:close/>
                </a:path>
              </a:pathLst>
            </a:custGeom>
            <a:solidFill>
              <a:srgbClr val="0D9488"/>
            </a:solidFill>
          </p:spPr>
        </p:sp>
      </p:grpSp>
      <p:sp>
        <p:nvSpPr>
          <p:cNvPr name="TextBox 18" id="18"/>
          <p:cNvSpPr txBox="true"/>
          <p:nvPr/>
        </p:nvSpPr>
        <p:spPr>
          <a:xfrm rot="0">
            <a:off x="1143000" y="914400"/>
            <a:ext cx="1906488" cy="266774"/>
          </a:xfrm>
          <a:prstGeom prst="rect">
            <a:avLst/>
          </a:prstGeom>
        </p:spPr>
        <p:txBody>
          <a:bodyPr anchor="t" rtlCol="false" tIns="0" lIns="0" bIns="0" rIns="0">
            <a:spAutoFit/>
          </a:bodyPr>
          <a:lstStyle/>
          <a:p>
            <a:pPr algn="l">
              <a:lnSpc>
                <a:spcPts val="2160"/>
              </a:lnSpc>
            </a:pPr>
            <a:r>
              <a:rPr lang="en-US" sz="1800" b="true">
                <a:solidFill>
                  <a:srgbClr val="EA580C"/>
                </a:solidFill>
                <a:latin typeface="Public Sans Bold"/>
                <a:ea typeface="Public Sans Bold"/>
                <a:cs typeface="Public Sans Bold"/>
                <a:sym typeface="Public Sans Bold"/>
              </a:rPr>
              <a:t>NHÂN SỰ DỰ ÁN</a:t>
            </a:r>
          </a:p>
        </p:txBody>
      </p:sp>
      <p:sp>
        <p:nvSpPr>
          <p:cNvPr name="TextBox 19" id="19"/>
          <p:cNvSpPr txBox="true"/>
          <p:nvPr/>
        </p:nvSpPr>
        <p:spPr>
          <a:xfrm rot="0">
            <a:off x="1143000" y="1314450"/>
            <a:ext cx="3525441" cy="819150"/>
          </a:xfrm>
          <a:prstGeom prst="rect">
            <a:avLst/>
          </a:prstGeom>
        </p:spPr>
        <p:txBody>
          <a:bodyPr anchor="t" rtlCol="false" tIns="0" lIns="0" bIns="0" rIns="0">
            <a:spAutoFit/>
          </a:bodyPr>
          <a:lstStyle/>
          <a:p>
            <a:pPr algn="l">
              <a:lnSpc>
                <a:spcPts val="6480"/>
              </a:lnSpc>
            </a:pPr>
            <a:r>
              <a:rPr lang="en-US" sz="5400" b="true">
                <a:solidFill>
                  <a:srgbClr val="0F172A"/>
                </a:solidFill>
                <a:latin typeface="Public Sans Bold"/>
                <a:ea typeface="Public Sans Bold"/>
                <a:cs typeface="Public Sans Bold"/>
                <a:sym typeface="Public Sans Bold"/>
              </a:rPr>
              <a:t>Thành viên</a:t>
            </a:r>
          </a:p>
        </p:txBody>
      </p:sp>
      <p:sp>
        <p:nvSpPr>
          <p:cNvPr name="TextBox 20" id="20"/>
          <p:cNvSpPr txBox="true"/>
          <p:nvPr/>
        </p:nvSpPr>
        <p:spPr>
          <a:xfrm rot="0">
            <a:off x="1685925" y="3905250"/>
            <a:ext cx="2558058" cy="428625"/>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Võ Minh Nhiệm</a:t>
            </a:r>
          </a:p>
        </p:txBody>
      </p:sp>
      <p:sp>
        <p:nvSpPr>
          <p:cNvPr name="TextBox 21" id="21"/>
          <p:cNvSpPr txBox="true"/>
          <p:nvPr/>
        </p:nvSpPr>
        <p:spPr>
          <a:xfrm rot="0">
            <a:off x="1857375" y="4591050"/>
            <a:ext cx="2264866" cy="428625"/>
          </a:xfrm>
          <a:prstGeom prst="rect">
            <a:avLst/>
          </a:prstGeom>
        </p:spPr>
        <p:txBody>
          <a:bodyPr anchor="t" rtlCol="false" tIns="0" lIns="0" bIns="0" rIns="0">
            <a:spAutoFit/>
          </a:bodyPr>
          <a:lstStyle/>
          <a:p>
            <a:pPr algn="l">
              <a:lnSpc>
                <a:spcPts val="3359"/>
              </a:lnSpc>
            </a:pPr>
            <a:r>
              <a:rPr lang="en-US" sz="2799" b="true">
                <a:solidFill>
                  <a:srgbClr val="EA580C"/>
                </a:solidFill>
                <a:latin typeface="Public Sans Bold"/>
                <a:ea typeface="Public Sans Bold"/>
                <a:cs typeface="Public Sans Bold"/>
                <a:sym typeface="Public Sans Bold"/>
              </a:rPr>
              <a:t>2380601585</a:t>
            </a:r>
          </a:p>
        </p:txBody>
      </p:sp>
      <p:sp>
        <p:nvSpPr>
          <p:cNvPr name="TextBox 22" id="22"/>
          <p:cNvSpPr txBox="true"/>
          <p:nvPr/>
        </p:nvSpPr>
        <p:spPr>
          <a:xfrm rot="0">
            <a:off x="9858375" y="3905250"/>
            <a:ext cx="4148733" cy="428625"/>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Nguyễn Đức Chí Nguyên</a:t>
            </a:r>
          </a:p>
        </p:txBody>
      </p:sp>
      <p:sp>
        <p:nvSpPr>
          <p:cNvPr name="TextBox 23" id="23"/>
          <p:cNvSpPr txBox="true"/>
          <p:nvPr/>
        </p:nvSpPr>
        <p:spPr>
          <a:xfrm rot="0">
            <a:off x="10029825" y="4591050"/>
            <a:ext cx="2252960" cy="428625"/>
          </a:xfrm>
          <a:prstGeom prst="rect">
            <a:avLst/>
          </a:prstGeom>
        </p:spPr>
        <p:txBody>
          <a:bodyPr anchor="t" rtlCol="false" tIns="0" lIns="0" bIns="0" rIns="0">
            <a:spAutoFit/>
          </a:bodyPr>
          <a:lstStyle/>
          <a:p>
            <a:pPr algn="l">
              <a:lnSpc>
                <a:spcPts val="3359"/>
              </a:lnSpc>
            </a:pPr>
            <a:r>
              <a:rPr lang="en-US" sz="2799" b="true">
                <a:solidFill>
                  <a:srgbClr val="0D9488"/>
                </a:solidFill>
                <a:latin typeface="Public Sans Bold"/>
                <a:ea typeface="Public Sans Bold"/>
                <a:cs typeface="Public Sans Bold"/>
                <a:sym typeface="Public Sans Bold"/>
              </a:rPr>
              <a:t>2380601486</a:t>
            </a:r>
          </a:p>
        </p:txBody>
      </p:sp>
      <p:sp>
        <p:nvSpPr>
          <p:cNvPr name="TextBox 24" id="24"/>
          <p:cNvSpPr txBox="true"/>
          <p:nvPr/>
        </p:nvSpPr>
        <p:spPr>
          <a:xfrm rot="0">
            <a:off x="1685925" y="6734175"/>
            <a:ext cx="2993975" cy="428625"/>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Huỳnh Minh Nhựt</a:t>
            </a:r>
          </a:p>
        </p:txBody>
      </p:sp>
      <p:sp>
        <p:nvSpPr>
          <p:cNvPr name="TextBox 25" id="25"/>
          <p:cNvSpPr txBox="true"/>
          <p:nvPr/>
        </p:nvSpPr>
        <p:spPr>
          <a:xfrm rot="0">
            <a:off x="1857375" y="7419975"/>
            <a:ext cx="2253853" cy="428625"/>
          </a:xfrm>
          <a:prstGeom prst="rect">
            <a:avLst/>
          </a:prstGeom>
        </p:spPr>
        <p:txBody>
          <a:bodyPr anchor="t" rtlCol="false" tIns="0" lIns="0" bIns="0" rIns="0">
            <a:spAutoFit/>
          </a:bodyPr>
          <a:lstStyle/>
          <a:p>
            <a:pPr algn="l">
              <a:lnSpc>
                <a:spcPts val="3359"/>
              </a:lnSpc>
            </a:pPr>
            <a:r>
              <a:rPr lang="en-US" sz="2799" b="true">
                <a:solidFill>
                  <a:srgbClr val="EA580C"/>
                </a:solidFill>
                <a:latin typeface="Public Sans Bold"/>
                <a:ea typeface="Public Sans Bold"/>
                <a:cs typeface="Public Sans Bold"/>
                <a:sym typeface="Public Sans Bold"/>
              </a:rPr>
              <a:t>2380601594</a:t>
            </a:r>
          </a:p>
        </p:txBody>
      </p:sp>
      <p:sp>
        <p:nvSpPr>
          <p:cNvPr name="TextBox 26" id="26"/>
          <p:cNvSpPr txBox="true"/>
          <p:nvPr/>
        </p:nvSpPr>
        <p:spPr>
          <a:xfrm rot="0">
            <a:off x="9858375" y="6734175"/>
            <a:ext cx="3672929" cy="428625"/>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Võ Nguyễn Đăng Khôi</a:t>
            </a:r>
          </a:p>
        </p:txBody>
      </p:sp>
      <p:sp>
        <p:nvSpPr>
          <p:cNvPr name="TextBox 27" id="27"/>
          <p:cNvSpPr txBox="true"/>
          <p:nvPr/>
        </p:nvSpPr>
        <p:spPr>
          <a:xfrm rot="0">
            <a:off x="10029825" y="7419975"/>
            <a:ext cx="2161877" cy="428625"/>
          </a:xfrm>
          <a:prstGeom prst="rect">
            <a:avLst/>
          </a:prstGeom>
        </p:spPr>
        <p:txBody>
          <a:bodyPr anchor="t" rtlCol="false" tIns="0" lIns="0" bIns="0" rIns="0">
            <a:spAutoFit/>
          </a:bodyPr>
          <a:lstStyle/>
          <a:p>
            <a:pPr algn="l">
              <a:lnSpc>
                <a:spcPts val="3359"/>
              </a:lnSpc>
            </a:pPr>
            <a:r>
              <a:rPr lang="en-US" sz="2799" b="true">
                <a:solidFill>
                  <a:srgbClr val="0D9488"/>
                </a:solidFill>
                <a:latin typeface="Public Sans Bold"/>
                <a:ea typeface="Public Sans Bold"/>
                <a:cs typeface="Public Sans Bold"/>
                <a:sym typeface="Public Sans Bold"/>
              </a:rPr>
              <a:t>2380601109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829800" y="685800"/>
            <a:ext cx="7772400" cy="8915400"/>
            <a:chOff x="0" y="0"/>
            <a:chExt cx="10363200" cy="11887200"/>
          </a:xfrm>
        </p:grpSpPr>
        <p:sp>
          <p:nvSpPr>
            <p:cNvPr name="Freeform 5" id="5"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3"/>
              <a:stretch>
                <a:fillRect l="0" t="0" r="0" b="0"/>
              </a:stretch>
            </a:blipFill>
          </p:spPr>
        </p:sp>
      </p:grpSp>
      <p:grpSp>
        <p:nvGrpSpPr>
          <p:cNvPr name="Group 6" id="6"/>
          <p:cNvGrpSpPr/>
          <p:nvPr/>
        </p:nvGrpSpPr>
        <p:grpSpPr>
          <a:xfrm rot="0">
            <a:off x="9829800" y="685800"/>
            <a:ext cx="7772400" cy="8915400"/>
            <a:chOff x="0" y="0"/>
            <a:chExt cx="10363200" cy="11887200"/>
          </a:xfrm>
        </p:grpSpPr>
        <p:sp>
          <p:nvSpPr>
            <p:cNvPr name="Freeform 7" id="7"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4"/>
              <a:stretch>
                <a:fillRect l="0" t="0" r="0" b="0"/>
              </a:stretch>
            </a:blipFill>
          </p:spPr>
        </p:sp>
      </p:grpSp>
      <p:grpSp>
        <p:nvGrpSpPr>
          <p:cNvPr name="Group 8" id="8"/>
          <p:cNvGrpSpPr/>
          <p:nvPr/>
        </p:nvGrpSpPr>
        <p:grpSpPr>
          <a:xfrm rot="0">
            <a:off x="1143000" y="4553245"/>
            <a:ext cx="428625" cy="371475"/>
            <a:chOff x="0" y="0"/>
            <a:chExt cx="571500" cy="495300"/>
          </a:xfrm>
        </p:grpSpPr>
        <p:sp>
          <p:nvSpPr>
            <p:cNvPr name="Freeform 9" id="9" descr="image.png"/>
            <p:cNvSpPr/>
            <p:nvPr/>
          </p:nvSpPr>
          <p:spPr>
            <a:xfrm flipH="false" flipV="false" rot="0">
              <a:off x="0" y="0"/>
              <a:ext cx="571500" cy="495300"/>
            </a:xfrm>
            <a:custGeom>
              <a:avLst/>
              <a:gdLst/>
              <a:ahLst/>
              <a:cxnLst/>
              <a:rect r="r" b="b" t="t" l="l"/>
              <a:pathLst>
                <a:path h="495300" w="571500">
                  <a:moveTo>
                    <a:pt x="0" y="0"/>
                  </a:moveTo>
                  <a:lnTo>
                    <a:pt x="571500" y="0"/>
                  </a:lnTo>
                  <a:lnTo>
                    <a:pt x="571500" y="495300"/>
                  </a:lnTo>
                  <a:lnTo>
                    <a:pt x="0" y="495300"/>
                  </a:lnTo>
                  <a:lnTo>
                    <a:pt x="0" y="0"/>
                  </a:lnTo>
                  <a:close/>
                </a:path>
              </a:pathLst>
            </a:custGeom>
            <a:blipFill>
              <a:blip r:embed="rId5"/>
              <a:stretch>
                <a:fillRect l="0" t="0" r="0" b="0"/>
              </a:stretch>
            </a:blipFill>
          </p:spPr>
        </p:sp>
      </p:grpSp>
      <p:grpSp>
        <p:nvGrpSpPr>
          <p:cNvPr name="Group 10" id="10"/>
          <p:cNvGrpSpPr/>
          <p:nvPr/>
        </p:nvGrpSpPr>
        <p:grpSpPr>
          <a:xfrm rot="0">
            <a:off x="1143000" y="6096295"/>
            <a:ext cx="300038" cy="371475"/>
            <a:chOff x="0" y="0"/>
            <a:chExt cx="400050" cy="495300"/>
          </a:xfrm>
        </p:grpSpPr>
        <p:sp>
          <p:nvSpPr>
            <p:cNvPr name="Freeform 11" id="11" descr="image.png"/>
            <p:cNvSpPr/>
            <p:nvPr/>
          </p:nvSpPr>
          <p:spPr>
            <a:xfrm flipH="false" flipV="false" rot="0">
              <a:off x="0" y="0"/>
              <a:ext cx="400050" cy="495300"/>
            </a:xfrm>
            <a:custGeom>
              <a:avLst/>
              <a:gdLst/>
              <a:ahLst/>
              <a:cxnLst/>
              <a:rect r="r" b="b" t="t" l="l"/>
              <a:pathLst>
                <a:path h="495300" w="400050">
                  <a:moveTo>
                    <a:pt x="0" y="0"/>
                  </a:moveTo>
                  <a:lnTo>
                    <a:pt x="400050" y="0"/>
                  </a:lnTo>
                  <a:lnTo>
                    <a:pt x="400050" y="495300"/>
                  </a:lnTo>
                  <a:lnTo>
                    <a:pt x="0" y="495300"/>
                  </a:lnTo>
                  <a:lnTo>
                    <a:pt x="0" y="0"/>
                  </a:lnTo>
                  <a:close/>
                </a:path>
              </a:pathLst>
            </a:custGeom>
            <a:blipFill>
              <a:blip r:embed="rId6"/>
              <a:stretch>
                <a:fillRect l="0" t="0" r="0" b="0"/>
              </a:stretch>
            </a:blipFill>
          </p:spPr>
        </p:sp>
      </p:grpSp>
      <p:grpSp>
        <p:nvGrpSpPr>
          <p:cNvPr name="Group 12" id="12"/>
          <p:cNvGrpSpPr/>
          <p:nvPr/>
        </p:nvGrpSpPr>
        <p:grpSpPr>
          <a:xfrm rot="0">
            <a:off x="1143000" y="7339308"/>
            <a:ext cx="342900" cy="371475"/>
            <a:chOff x="0" y="0"/>
            <a:chExt cx="457200" cy="495300"/>
          </a:xfrm>
        </p:grpSpPr>
        <p:sp>
          <p:nvSpPr>
            <p:cNvPr name="Freeform 13" id="13"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7"/>
              <a:stretch>
                <a:fillRect l="0" t="0" r="0" b="0"/>
              </a:stretch>
            </a:blipFill>
          </p:spPr>
        </p:sp>
      </p:grpSp>
      <p:sp>
        <p:nvSpPr>
          <p:cNvPr name="TextBox 14" id="14"/>
          <p:cNvSpPr txBox="true"/>
          <p:nvPr/>
        </p:nvSpPr>
        <p:spPr>
          <a:xfrm rot="0">
            <a:off x="1143000" y="2380955"/>
            <a:ext cx="7350919" cy="1577340"/>
          </a:xfrm>
          <a:prstGeom prst="rect">
            <a:avLst/>
          </a:prstGeom>
        </p:spPr>
        <p:txBody>
          <a:bodyPr anchor="t" rtlCol="false" tIns="0" lIns="0" bIns="0" rIns="0">
            <a:spAutoFit/>
          </a:bodyPr>
          <a:lstStyle/>
          <a:p>
            <a:pPr algn="l">
              <a:lnSpc>
                <a:spcPts val="6209"/>
              </a:lnSpc>
            </a:pPr>
            <a:r>
              <a:rPr lang="en-US" sz="5400" b="true">
                <a:solidFill>
                  <a:srgbClr val="1C1917"/>
                </a:solidFill>
                <a:latin typeface="Public Sans Bold"/>
                <a:ea typeface="Public Sans Bold"/>
                <a:cs typeface="Public Sans Bold"/>
                <a:sym typeface="Public Sans Bold"/>
              </a:rPr>
              <a:t>Bài toán Không gian KTX</a:t>
            </a:r>
          </a:p>
        </p:txBody>
      </p:sp>
      <p:sp>
        <p:nvSpPr>
          <p:cNvPr name="TextBox 15" id="15"/>
          <p:cNvSpPr txBox="true"/>
          <p:nvPr/>
        </p:nvSpPr>
        <p:spPr>
          <a:xfrm rot="0">
            <a:off x="1800225" y="4500858"/>
            <a:ext cx="1859012"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Mật độ cao</a:t>
            </a:r>
          </a:p>
        </p:txBody>
      </p:sp>
      <p:sp>
        <p:nvSpPr>
          <p:cNvPr name="TextBox 16" id="16"/>
          <p:cNvSpPr txBox="true"/>
          <p:nvPr/>
        </p:nvSpPr>
        <p:spPr>
          <a:xfrm rot="0">
            <a:off x="1800225" y="4986633"/>
            <a:ext cx="6693694"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Hàng ngàn sinh viên hoạt động trong bán kính hẹp.</a:t>
            </a:r>
          </a:p>
        </p:txBody>
      </p:sp>
      <p:sp>
        <p:nvSpPr>
          <p:cNvPr name="TextBox 17" id="17"/>
          <p:cNvSpPr txBox="true"/>
          <p:nvPr/>
        </p:nvSpPr>
        <p:spPr>
          <a:xfrm rot="0">
            <a:off x="1671638" y="6043908"/>
            <a:ext cx="4338191"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Độ trễ thấp (Low Latency)</a:t>
            </a:r>
          </a:p>
        </p:txBody>
      </p:sp>
      <p:sp>
        <p:nvSpPr>
          <p:cNvPr name="TextBox 18" id="18"/>
          <p:cNvSpPr txBox="true"/>
          <p:nvPr/>
        </p:nvSpPr>
        <p:spPr>
          <a:xfrm rot="0">
            <a:off x="1671638" y="6529683"/>
            <a:ext cx="7723584" cy="4286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Yêu cầu cập nhật vị trí shipper liên tục tức thời.</a:t>
            </a:r>
          </a:p>
        </p:txBody>
      </p:sp>
      <p:sp>
        <p:nvSpPr>
          <p:cNvPr name="TextBox 19" id="19"/>
          <p:cNvSpPr txBox="true"/>
          <p:nvPr/>
        </p:nvSpPr>
        <p:spPr>
          <a:xfrm rot="0">
            <a:off x="1714500" y="7286920"/>
            <a:ext cx="3258145"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Giới hạn tài nguyên</a:t>
            </a:r>
          </a:p>
        </p:txBody>
      </p:sp>
      <p:sp>
        <p:nvSpPr>
          <p:cNvPr name="TextBox 20" id="20"/>
          <p:cNvSpPr txBox="true"/>
          <p:nvPr/>
        </p:nvSpPr>
        <p:spPr>
          <a:xfrm rot="0">
            <a:off x="1714500" y="7772695"/>
            <a:ext cx="6873975"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Giải quyết nghẽn băng thông và chi phí API khổng lồ.</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0" y="3865101"/>
            <a:ext cx="3743325" cy="3791081"/>
            <a:chOff x="0" y="0"/>
            <a:chExt cx="4991100" cy="5054774"/>
          </a:xfrm>
        </p:grpSpPr>
        <p:sp>
          <p:nvSpPr>
            <p:cNvPr name="Freeform 3" id="3"/>
            <p:cNvSpPr/>
            <p:nvPr/>
          </p:nvSpPr>
          <p:spPr>
            <a:xfrm flipH="false" flipV="false" rot="0">
              <a:off x="0" y="0"/>
              <a:ext cx="4991100" cy="5054774"/>
            </a:xfrm>
            <a:custGeom>
              <a:avLst/>
              <a:gdLst/>
              <a:ahLst/>
              <a:cxnLst/>
              <a:rect r="r" b="b" t="t" l="l"/>
              <a:pathLst>
                <a:path h="5054774" w="4991100">
                  <a:moveTo>
                    <a:pt x="0" y="594679"/>
                  </a:moveTo>
                  <a:cubicBezTo>
                    <a:pt x="0" y="266284"/>
                    <a:pt x="204724" y="0"/>
                    <a:pt x="457200" y="0"/>
                  </a:cubicBezTo>
                  <a:lnTo>
                    <a:pt x="4533900" y="0"/>
                  </a:lnTo>
                  <a:cubicBezTo>
                    <a:pt x="4786376" y="0"/>
                    <a:pt x="4991100" y="266284"/>
                    <a:pt x="4991100" y="594679"/>
                  </a:cubicBezTo>
                  <a:lnTo>
                    <a:pt x="4991100" y="4460095"/>
                  </a:lnTo>
                  <a:cubicBezTo>
                    <a:pt x="4991100" y="4788490"/>
                    <a:pt x="4786376" y="5054774"/>
                    <a:pt x="4533900" y="5054774"/>
                  </a:cubicBezTo>
                  <a:lnTo>
                    <a:pt x="457200" y="5054774"/>
                  </a:lnTo>
                  <a:cubicBezTo>
                    <a:pt x="204724" y="5054774"/>
                    <a:pt x="0" y="4788490"/>
                    <a:pt x="0" y="4460095"/>
                  </a:cubicBezTo>
                  <a:close/>
                </a:path>
              </a:pathLst>
            </a:custGeom>
            <a:solidFill>
              <a:srgbClr val="FAFAF9"/>
            </a:solidFill>
          </p:spPr>
        </p:sp>
      </p:grpSp>
      <p:grpSp>
        <p:nvGrpSpPr>
          <p:cNvPr name="Group 4" id="4"/>
          <p:cNvGrpSpPr/>
          <p:nvPr/>
        </p:nvGrpSpPr>
        <p:grpSpPr>
          <a:xfrm rot="0">
            <a:off x="5229225" y="3865101"/>
            <a:ext cx="3743325" cy="3791081"/>
            <a:chOff x="0" y="0"/>
            <a:chExt cx="4991100" cy="5054774"/>
          </a:xfrm>
        </p:grpSpPr>
        <p:sp>
          <p:nvSpPr>
            <p:cNvPr name="Freeform 5" id="5"/>
            <p:cNvSpPr/>
            <p:nvPr/>
          </p:nvSpPr>
          <p:spPr>
            <a:xfrm flipH="false" flipV="false" rot="0">
              <a:off x="0" y="0"/>
              <a:ext cx="4991100" cy="5054774"/>
            </a:xfrm>
            <a:custGeom>
              <a:avLst/>
              <a:gdLst/>
              <a:ahLst/>
              <a:cxnLst/>
              <a:rect r="r" b="b" t="t" l="l"/>
              <a:pathLst>
                <a:path h="5054774" w="4991100">
                  <a:moveTo>
                    <a:pt x="0" y="594679"/>
                  </a:moveTo>
                  <a:cubicBezTo>
                    <a:pt x="0" y="266284"/>
                    <a:pt x="204724" y="0"/>
                    <a:pt x="457200" y="0"/>
                  </a:cubicBezTo>
                  <a:lnTo>
                    <a:pt x="4533900" y="0"/>
                  </a:lnTo>
                  <a:cubicBezTo>
                    <a:pt x="4786376" y="0"/>
                    <a:pt x="4991100" y="266284"/>
                    <a:pt x="4991100" y="594679"/>
                  </a:cubicBezTo>
                  <a:lnTo>
                    <a:pt x="4991100" y="4460095"/>
                  </a:lnTo>
                  <a:cubicBezTo>
                    <a:pt x="4991100" y="4788490"/>
                    <a:pt x="4786376" y="5054774"/>
                    <a:pt x="4533900" y="5054774"/>
                  </a:cubicBezTo>
                  <a:lnTo>
                    <a:pt x="457200" y="5054774"/>
                  </a:lnTo>
                  <a:cubicBezTo>
                    <a:pt x="204724" y="5054774"/>
                    <a:pt x="0" y="4788490"/>
                    <a:pt x="0" y="4460095"/>
                  </a:cubicBezTo>
                  <a:close/>
                </a:path>
              </a:pathLst>
            </a:custGeom>
            <a:solidFill>
              <a:srgbClr val="FAFAF9"/>
            </a:solidFill>
          </p:spPr>
        </p:sp>
      </p:grpSp>
      <p:grpSp>
        <p:nvGrpSpPr>
          <p:cNvPr name="Group 6" id="6"/>
          <p:cNvGrpSpPr/>
          <p:nvPr/>
        </p:nvGrpSpPr>
        <p:grpSpPr>
          <a:xfrm rot="0">
            <a:off x="9315450" y="3865101"/>
            <a:ext cx="3743325" cy="3791081"/>
            <a:chOff x="0" y="0"/>
            <a:chExt cx="4991100" cy="5054774"/>
          </a:xfrm>
        </p:grpSpPr>
        <p:sp>
          <p:nvSpPr>
            <p:cNvPr name="Freeform 7" id="7"/>
            <p:cNvSpPr/>
            <p:nvPr/>
          </p:nvSpPr>
          <p:spPr>
            <a:xfrm flipH="false" flipV="false" rot="0">
              <a:off x="0" y="0"/>
              <a:ext cx="4991100" cy="5054774"/>
            </a:xfrm>
            <a:custGeom>
              <a:avLst/>
              <a:gdLst/>
              <a:ahLst/>
              <a:cxnLst/>
              <a:rect r="r" b="b" t="t" l="l"/>
              <a:pathLst>
                <a:path h="5054774" w="4991100">
                  <a:moveTo>
                    <a:pt x="0" y="594679"/>
                  </a:moveTo>
                  <a:cubicBezTo>
                    <a:pt x="0" y="266284"/>
                    <a:pt x="204724" y="0"/>
                    <a:pt x="457200" y="0"/>
                  </a:cubicBezTo>
                  <a:lnTo>
                    <a:pt x="4533900" y="0"/>
                  </a:lnTo>
                  <a:cubicBezTo>
                    <a:pt x="4786376" y="0"/>
                    <a:pt x="4991100" y="266284"/>
                    <a:pt x="4991100" y="594679"/>
                  </a:cubicBezTo>
                  <a:lnTo>
                    <a:pt x="4991100" y="4460095"/>
                  </a:lnTo>
                  <a:cubicBezTo>
                    <a:pt x="4991100" y="4788490"/>
                    <a:pt x="4786376" y="5054774"/>
                    <a:pt x="4533900" y="5054774"/>
                  </a:cubicBezTo>
                  <a:lnTo>
                    <a:pt x="457200" y="5054774"/>
                  </a:lnTo>
                  <a:cubicBezTo>
                    <a:pt x="204724" y="5054774"/>
                    <a:pt x="0" y="4788490"/>
                    <a:pt x="0" y="4460095"/>
                  </a:cubicBezTo>
                  <a:close/>
                </a:path>
              </a:pathLst>
            </a:custGeom>
            <a:solidFill>
              <a:srgbClr val="FAFAF9"/>
            </a:solidFill>
          </p:spPr>
        </p:sp>
      </p:grpSp>
      <p:grpSp>
        <p:nvGrpSpPr>
          <p:cNvPr name="Group 8" id="8"/>
          <p:cNvGrpSpPr/>
          <p:nvPr/>
        </p:nvGrpSpPr>
        <p:grpSpPr>
          <a:xfrm rot="0">
            <a:off x="13401675" y="3865101"/>
            <a:ext cx="3743325" cy="3791081"/>
            <a:chOff x="0" y="0"/>
            <a:chExt cx="4991100" cy="5054774"/>
          </a:xfrm>
        </p:grpSpPr>
        <p:sp>
          <p:nvSpPr>
            <p:cNvPr name="Freeform 9" id="9"/>
            <p:cNvSpPr/>
            <p:nvPr/>
          </p:nvSpPr>
          <p:spPr>
            <a:xfrm flipH="false" flipV="false" rot="0">
              <a:off x="0" y="0"/>
              <a:ext cx="4991100" cy="5054774"/>
            </a:xfrm>
            <a:custGeom>
              <a:avLst/>
              <a:gdLst/>
              <a:ahLst/>
              <a:cxnLst/>
              <a:rect r="r" b="b" t="t" l="l"/>
              <a:pathLst>
                <a:path h="5054774" w="4991100">
                  <a:moveTo>
                    <a:pt x="0" y="594679"/>
                  </a:moveTo>
                  <a:cubicBezTo>
                    <a:pt x="0" y="266284"/>
                    <a:pt x="204724" y="0"/>
                    <a:pt x="457200" y="0"/>
                  </a:cubicBezTo>
                  <a:lnTo>
                    <a:pt x="4533900" y="0"/>
                  </a:lnTo>
                  <a:cubicBezTo>
                    <a:pt x="4786376" y="0"/>
                    <a:pt x="4991100" y="266284"/>
                    <a:pt x="4991100" y="594679"/>
                  </a:cubicBezTo>
                  <a:lnTo>
                    <a:pt x="4991100" y="4460095"/>
                  </a:lnTo>
                  <a:cubicBezTo>
                    <a:pt x="4991100" y="4788490"/>
                    <a:pt x="4786376" y="5054774"/>
                    <a:pt x="4533900" y="5054774"/>
                  </a:cubicBezTo>
                  <a:lnTo>
                    <a:pt x="457200" y="5054774"/>
                  </a:lnTo>
                  <a:cubicBezTo>
                    <a:pt x="204724" y="5054774"/>
                    <a:pt x="0" y="4788490"/>
                    <a:pt x="0" y="4460095"/>
                  </a:cubicBezTo>
                  <a:close/>
                </a:path>
              </a:pathLst>
            </a:custGeom>
            <a:solidFill>
              <a:srgbClr val="FAFAF9"/>
            </a:solidFill>
          </p:spPr>
        </p:sp>
      </p:grpSp>
      <p:grpSp>
        <p:nvGrpSpPr>
          <p:cNvPr name="Group 10" id="10"/>
          <p:cNvGrpSpPr/>
          <p:nvPr/>
        </p:nvGrpSpPr>
        <p:grpSpPr>
          <a:xfrm rot="0">
            <a:off x="1143000" y="3865101"/>
            <a:ext cx="3743325" cy="57150"/>
            <a:chOff x="0" y="0"/>
            <a:chExt cx="4991100" cy="76200"/>
          </a:xfrm>
        </p:grpSpPr>
        <p:sp>
          <p:nvSpPr>
            <p:cNvPr name="Freeform 11" id="11"/>
            <p:cNvSpPr/>
            <p:nvPr/>
          </p:nvSpPr>
          <p:spPr>
            <a:xfrm flipH="false" flipV="false" rot="0">
              <a:off x="0" y="0"/>
              <a:ext cx="4991100" cy="76200"/>
            </a:xfrm>
            <a:custGeom>
              <a:avLst/>
              <a:gdLst/>
              <a:ahLst/>
              <a:cxnLst/>
              <a:rect r="r" b="b" t="t" l="l"/>
              <a:pathLst>
                <a:path h="76200" w="4991100">
                  <a:moveTo>
                    <a:pt x="0" y="0"/>
                  </a:moveTo>
                  <a:lnTo>
                    <a:pt x="4991100" y="0"/>
                  </a:lnTo>
                  <a:lnTo>
                    <a:pt x="4991100" y="76200"/>
                  </a:lnTo>
                  <a:lnTo>
                    <a:pt x="0" y="76200"/>
                  </a:lnTo>
                  <a:close/>
                </a:path>
              </a:pathLst>
            </a:custGeom>
            <a:solidFill>
              <a:srgbClr val="FF6B2B"/>
            </a:solidFill>
          </p:spPr>
        </p:sp>
      </p:grpSp>
      <p:grpSp>
        <p:nvGrpSpPr>
          <p:cNvPr name="Group 12" id="12"/>
          <p:cNvGrpSpPr/>
          <p:nvPr/>
        </p:nvGrpSpPr>
        <p:grpSpPr>
          <a:xfrm rot="0">
            <a:off x="5229225" y="3865101"/>
            <a:ext cx="3743325" cy="57150"/>
            <a:chOff x="0" y="0"/>
            <a:chExt cx="4991100" cy="76200"/>
          </a:xfrm>
        </p:grpSpPr>
        <p:sp>
          <p:nvSpPr>
            <p:cNvPr name="Freeform 13" id="13"/>
            <p:cNvSpPr/>
            <p:nvPr/>
          </p:nvSpPr>
          <p:spPr>
            <a:xfrm flipH="false" flipV="false" rot="0">
              <a:off x="0" y="0"/>
              <a:ext cx="4991100" cy="76200"/>
            </a:xfrm>
            <a:custGeom>
              <a:avLst/>
              <a:gdLst/>
              <a:ahLst/>
              <a:cxnLst/>
              <a:rect r="r" b="b" t="t" l="l"/>
              <a:pathLst>
                <a:path h="76200" w="4991100">
                  <a:moveTo>
                    <a:pt x="0" y="0"/>
                  </a:moveTo>
                  <a:lnTo>
                    <a:pt x="4991100" y="0"/>
                  </a:lnTo>
                  <a:lnTo>
                    <a:pt x="4991100" y="76200"/>
                  </a:lnTo>
                  <a:lnTo>
                    <a:pt x="0" y="76200"/>
                  </a:lnTo>
                  <a:close/>
                </a:path>
              </a:pathLst>
            </a:custGeom>
            <a:solidFill>
              <a:srgbClr val="1C1917"/>
            </a:solidFill>
          </p:spPr>
        </p:sp>
      </p:grpSp>
      <p:grpSp>
        <p:nvGrpSpPr>
          <p:cNvPr name="Group 14" id="14"/>
          <p:cNvGrpSpPr/>
          <p:nvPr/>
        </p:nvGrpSpPr>
        <p:grpSpPr>
          <a:xfrm rot="0">
            <a:off x="9315450" y="3865101"/>
            <a:ext cx="3743325" cy="57150"/>
            <a:chOff x="0" y="0"/>
            <a:chExt cx="4991100" cy="76200"/>
          </a:xfrm>
        </p:grpSpPr>
        <p:sp>
          <p:nvSpPr>
            <p:cNvPr name="Freeform 15" id="15"/>
            <p:cNvSpPr/>
            <p:nvPr/>
          </p:nvSpPr>
          <p:spPr>
            <a:xfrm flipH="false" flipV="false" rot="0">
              <a:off x="0" y="0"/>
              <a:ext cx="4991100" cy="76200"/>
            </a:xfrm>
            <a:custGeom>
              <a:avLst/>
              <a:gdLst/>
              <a:ahLst/>
              <a:cxnLst/>
              <a:rect r="r" b="b" t="t" l="l"/>
              <a:pathLst>
                <a:path h="76200" w="4991100">
                  <a:moveTo>
                    <a:pt x="0" y="0"/>
                  </a:moveTo>
                  <a:lnTo>
                    <a:pt x="4991100" y="0"/>
                  </a:lnTo>
                  <a:lnTo>
                    <a:pt x="4991100" y="76200"/>
                  </a:lnTo>
                  <a:lnTo>
                    <a:pt x="0" y="76200"/>
                  </a:lnTo>
                  <a:close/>
                </a:path>
              </a:pathLst>
            </a:custGeom>
            <a:solidFill>
              <a:srgbClr val="FF6B2B"/>
            </a:solidFill>
          </p:spPr>
        </p:sp>
      </p:grpSp>
      <p:grpSp>
        <p:nvGrpSpPr>
          <p:cNvPr name="Group 16" id="16"/>
          <p:cNvGrpSpPr/>
          <p:nvPr/>
        </p:nvGrpSpPr>
        <p:grpSpPr>
          <a:xfrm rot="0">
            <a:off x="13401675" y="3865101"/>
            <a:ext cx="3743325" cy="57150"/>
            <a:chOff x="0" y="0"/>
            <a:chExt cx="4991100" cy="76200"/>
          </a:xfrm>
        </p:grpSpPr>
        <p:sp>
          <p:nvSpPr>
            <p:cNvPr name="Freeform 17" id="17"/>
            <p:cNvSpPr/>
            <p:nvPr/>
          </p:nvSpPr>
          <p:spPr>
            <a:xfrm flipH="false" flipV="false" rot="0">
              <a:off x="0" y="0"/>
              <a:ext cx="4991100" cy="76200"/>
            </a:xfrm>
            <a:custGeom>
              <a:avLst/>
              <a:gdLst/>
              <a:ahLst/>
              <a:cxnLst/>
              <a:rect r="r" b="b" t="t" l="l"/>
              <a:pathLst>
                <a:path h="76200" w="4991100">
                  <a:moveTo>
                    <a:pt x="0" y="0"/>
                  </a:moveTo>
                  <a:lnTo>
                    <a:pt x="4991100" y="0"/>
                  </a:lnTo>
                  <a:lnTo>
                    <a:pt x="4991100" y="76200"/>
                  </a:lnTo>
                  <a:lnTo>
                    <a:pt x="0" y="76200"/>
                  </a:lnTo>
                  <a:close/>
                </a:path>
              </a:pathLst>
            </a:custGeom>
            <a:solidFill>
              <a:srgbClr val="1C1917"/>
            </a:solidFill>
          </p:spPr>
        </p:sp>
      </p:grpSp>
      <p:grpSp>
        <p:nvGrpSpPr>
          <p:cNvPr name="Group 18" id="18"/>
          <p:cNvGrpSpPr/>
          <p:nvPr/>
        </p:nvGrpSpPr>
        <p:grpSpPr>
          <a:xfrm rot="0">
            <a:off x="1600200" y="4379451"/>
            <a:ext cx="457200" cy="457200"/>
            <a:chOff x="0" y="0"/>
            <a:chExt cx="609600" cy="609600"/>
          </a:xfrm>
        </p:grpSpPr>
        <p:sp>
          <p:nvSpPr>
            <p:cNvPr name="Freeform 19" id="1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2"/>
              <a:stretch>
                <a:fillRect l="0" t="0" r="0" b="0"/>
              </a:stretch>
            </a:blipFill>
          </p:spPr>
        </p:sp>
      </p:grpSp>
      <p:grpSp>
        <p:nvGrpSpPr>
          <p:cNvPr name="Group 20" id="20"/>
          <p:cNvGrpSpPr/>
          <p:nvPr/>
        </p:nvGrpSpPr>
        <p:grpSpPr>
          <a:xfrm rot="0">
            <a:off x="5686425" y="4379451"/>
            <a:ext cx="514350" cy="457200"/>
            <a:chOff x="0" y="0"/>
            <a:chExt cx="685800" cy="609600"/>
          </a:xfrm>
        </p:grpSpPr>
        <p:sp>
          <p:nvSpPr>
            <p:cNvPr name="Freeform 21" id="21" descr="image.png"/>
            <p:cNvSpPr/>
            <p:nvPr/>
          </p:nvSpPr>
          <p:spPr>
            <a:xfrm flipH="false" flipV="false" rot="0">
              <a:off x="0" y="0"/>
              <a:ext cx="685800" cy="609600"/>
            </a:xfrm>
            <a:custGeom>
              <a:avLst/>
              <a:gdLst/>
              <a:ahLst/>
              <a:cxnLst/>
              <a:rect r="r" b="b" t="t" l="l"/>
              <a:pathLst>
                <a:path h="609600" w="685800">
                  <a:moveTo>
                    <a:pt x="0" y="0"/>
                  </a:moveTo>
                  <a:lnTo>
                    <a:pt x="685800" y="0"/>
                  </a:lnTo>
                  <a:lnTo>
                    <a:pt x="685800" y="609600"/>
                  </a:lnTo>
                  <a:lnTo>
                    <a:pt x="0" y="609600"/>
                  </a:lnTo>
                  <a:lnTo>
                    <a:pt x="0" y="0"/>
                  </a:lnTo>
                  <a:close/>
                </a:path>
              </a:pathLst>
            </a:custGeom>
            <a:blipFill>
              <a:blip r:embed="rId3"/>
              <a:stretch>
                <a:fillRect l="0" t="0" r="0" b="0"/>
              </a:stretch>
            </a:blipFill>
          </p:spPr>
        </p:sp>
      </p:grpSp>
      <p:grpSp>
        <p:nvGrpSpPr>
          <p:cNvPr name="Group 22" id="22"/>
          <p:cNvGrpSpPr/>
          <p:nvPr/>
        </p:nvGrpSpPr>
        <p:grpSpPr>
          <a:xfrm rot="0">
            <a:off x="9772650" y="4379451"/>
            <a:ext cx="457200" cy="457200"/>
            <a:chOff x="0" y="0"/>
            <a:chExt cx="609600" cy="609600"/>
          </a:xfrm>
        </p:grpSpPr>
        <p:sp>
          <p:nvSpPr>
            <p:cNvPr name="Freeform 23" id="23"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4"/>
              <a:stretch>
                <a:fillRect l="0" t="0" r="0" b="0"/>
              </a:stretch>
            </a:blipFill>
          </p:spPr>
        </p:sp>
      </p:grpSp>
      <p:grpSp>
        <p:nvGrpSpPr>
          <p:cNvPr name="Group 24" id="24"/>
          <p:cNvGrpSpPr/>
          <p:nvPr/>
        </p:nvGrpSpPr>
        <p:grpSpPr>
          <a:xfrm rot="0">
            <a:off x="13858875" y="4379451"/>
            <a:ext cx="457200" cy="457200"/>
            <a:chOff x="0" y="0"/>
            <a:chExt cx="609600" cy="609600"/>
          </a:xfrm>
        </p:grpSpPr>
        <p:sp>
          <p:nvSpPr>
            <p:cNvPr name="Freeform 25" id="25"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5"/>
              <a:stretch>
                <a:fillRect l="0" t="0" r="0" b="0"/>
              </a:stretch>
            </a:blipFill>
          </p:spPr>
        </p:sp>
      </p:grpSp>
      <p:sp>
        <p:nvSpPr>
          <p:cNvPr name="TextBox 26" id="26"/>
          <p:cNvSpPr txBox="true"/>
          <p:nvPr/>
        </p:nvSpPr>
        <p:spPr>
          <a:xfrm rot="0">
            <a:off x="6999759" y="1164227"/>
            <a:ext cx="4288482" cy="428662"/>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HỆ SINH THÁI KỸ THUẬT</a:t>
            </a:r>
          </a:p>
        </p:txBody>
      </p:sp>
      <p:sp>
        <p:nvSpPr>
          <p:cNvPr name="TextBox 27" id="27"/>
          <p:cNvSpPr txBox="true"/>
          <p:nvPr/>
        </p:nvSpPr>
        <p:spPr>
          <a:xfrm rot="0">
            <a:off x="5670724" y="1688102"/>
            <a:ext cx="6946553"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4 Trụ Cột Không Gian</a:t>
            </a:r>
          </a:p>
        </p:txBody>
      </p:sp>
      <p:sp>
        <p:nvSpPr>
          <p:cNvPr name="TextBox 28" id="28"/>
          <p:cNvSpPr txBox="true"/>
          <p:nvPr/>
        </p:nvSpPr>
        <p:spPr>
          <a:xfrm rot="0">
            <a:off x="1600200" y="5112876"/>
            <a:ext cx="2317700"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Thu thập GPS</a:t>
            </a:r>
          </a:p>
        </p:txBody>
      </p:sp>
      <p:sp>
        <p:nvSpPr>
          <p:cNvPr name="TextBox 29" id="29"/>
          <p:cNvSpPr txBox="true"/>
          <p:nvPr/>
        </p:nvSpPr>
        <p:spPr>
          <a:xfrm rot="0">
            <a:off x="1600200" y="6198726"/>
            <a:ext cx="3016895" cy="4286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Plugin geolocator.</a:t>
            </a:r>
          </a:p>
        </p:txBody>
      </p:sp>
      <p:sp>
        <p:nvSpPr>
          <p:cNvPr name="TextBox 30" id="30"/>
          <p:cNvSpPr txBox="true"/>
          <p:nvPr/>
        </p:nvSpPr>
        <p:spPr>
          <a:xfrm rot="0">
            <a:off x="5686425" y="5112876"/>
            <a:ext cx="1764060"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Hiển thị UI</a:t>
            </a:r>
          </a:p>
        </p:txBody>
      </p:sp>
      <p:sp>
        <p:nvSpPr>
          <p:cNvPr name="TextBox 31" id="31"/>
          <p:cNvSpPr txBox="true"/>
          <p:nvPr/>
        </p:nvSpPr>
        <p:spPr>
          <a:xfrm rot="0">
            <a:off x="5686425" y="5989176"/>
            <a:ext cx="3106290"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Thư viện flutter_map.</a:t>
            </a:r>
          </a:p>
        </p:txBody>
      </p:sp>
      <p:sp>
        <p:nvSpPr>
          <p:cNvPr name="TextBox 32" id="32"/>
          <p:cNvSpPr txBox="true"/>
          <p:nvPr/>
        </p:nvSpPr>
        <p:spPr>
          <a:xfrm rot="0">
            <a:off x="9772650" y="5112876"/>
            <a:ext cx="2809577"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Xử lý Thuật toán</a:t>
            </a:r>
          </a:p>
        </p:txBody>
      </p:sp>
      <p:sp>
        <p:nvSpPr>
          <p:cNvPr name="TextBox 33" id="33"/>
          <p:cNvSpPr txBox="true"/>
          <p:nvPr/>
        </p:nvSpPr>
        <p:spPr>
          <a:xfrm rot="0">
            <a:off x="9772650" y="5989176"/>
            <a:ext cx="2971800"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Lọc thô bằng Haversine.</a:t>
            </a:r>
          </a:p>
        </p:txBody>
      </p:sp>
      <p:sp>
        <p:nvSpPr>
          <p:cNvPr name="TextBox 34" id="34"/>
          <p:cNvSpPr txBox="true"/>
          <p:nvPr/>
        </p:nvSpPr>
        <p:spPr>
          <a:xfrm rot="0">
            <a:off x="13858875" y="5112876"/>
            <a:ext cx="1835200"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Định tuyến</a:t>
            </a:r>
          </a:p>
        </p:txBody>
      </p:sp>
      <p:sp>
        <p:nvSpPr>
          <p:cNvPr name="TextBox 35" id="35"/>
          <p:cNvSpPr txBox="true"/>
          <p:nvPr/>
        </p:nvSpPr>
        <p:spPr>
          <a:xfrm rot="0">
            <a:off x="13858875" y="5989176"/>
            <a:ext cx="3031866"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Vẽ lộ trình OSRM API.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685800" y="685800"/>
            <a:ext cx="7772400" cy="8915400"/>
            <a:chOff x="0" y="0"/>
            <a:chExt cx="10363200" cy="11887200"/>
          </a:xfrm>
        </p:grpSpPr>
        <p:sp>
          <p:nvSpPr>
            <p:cNvPr name="Freeform 5" id="5"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3"/>
              <a:stretch>
                <a:fillRect l="0" t="0" r="0" b="0"/>
              </a:stretch>
            </a:blipFill>
          </p:spPr>
        </p:sp>
      </p:grpSp>
      <p:grpSp>
        <p:nvGrpSpPr>
          <p:cNvPr name="Group 6" id="6"/>
          <p:cNvGrpSpPr/>
          <p:nvPr/>
        </p:nvGrpSpPr>
        <p:grpSpPr>
          <a:xfrm rot="0">
            <a:off x="685800" y="685800"/>
            <a:ext cx="7772400" cy="8915400"/>
            <a:chOff x="0" y="0"/>
            <a:chExt cx="10363200" cy="11887200"/>
          </a:xfrm>
        </p:grpSpPr>
        <p:sp>
          <p:nvSpPr>
            <p:cNvPr name="Freeform 7" id="7"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4"/>
              <a:stretch>
                <a:fillRect l="0" t="0" r="0" b="0"/>
              </a:stretch>
            </a:blipFill>
          </p:spPr>
        </p:sp>
      </p:grpSp>
      <p:sp>
        <p:nvSpPr>
          <p:cNvPr name="TextBox 8" id="8"/>
          <p:cNvSpPr txBox="true"/>
          <p:nvPr/>
        </p:nvSpPr>
        <p:spPr>
          <a:xfrm rot="0">
            <a:off x="9796407" y="1029544"/>
            <a:ext cx="4516375" cy="428662"/>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TRỰC QUAN HÓA BẢN ĐỒ</a:t>
            </a:r>
          </a:p>
        </p:txBody>
      </p:sp>
      <p:sp>
        <p:nvSpPr>
          <p:cNvPr name="TextBox 9" id="9"/>
          <p:cNvSpPr txBox="true"/>
          <p:nvPr/>
        </p:nvSpPr>
        <p:spPr>
          <a:xfrm rot="0">
            <a:off x="9750414" y="1561312"/>
            <a:ext cx="6901607" cy="796290"/>
          </a:xfrm>
          <a:prstGeom prst="rect">
            <a:avLst/>
          </a:prstGeom>
        </p:spPr>
        <p:txBody>
          <a:bodyPr anchor="t" rtlCol="false" tIns="0" lIns="0" bIns="0" rIns="0">
            <a:spAutoFit/>
          </a:bodyPr>
          <a:lstStyle/>
          <a:p>
            <a:pPr algn="l">
              <a:lnSpc>
                <a:spcPts val="6209"/>
              </a:lnSpc>
            </a:pPr>
            <a:r>
              <a:rPr lang="en-US" sz="5400" b="true">
                <a:solidFill>
                  <a:srgbClr val="1C1917"/>
                </a:solidFill>
                <a:latin typeface="Public Sans Bold"/>
                <a:ea typeface="Public Sans Bold"/>
                <a:cs typeface="Public Sans Bold"/>
                <a:sym typeface="Public Sans Bold"/>
              </a:rPr>
              <a:t>Thư viện flutter_map</a:t>
            </a:r>
          </a:p>
        </p:txBody>
      </p:sp>
      <p:sp>
        <p:nvSpPr>
          <p:cNvPr name="TextBox 10" id="10"/>
          <p:cNvSpPr txBox="true"/>
          <p:nvPr/>
        </p:nvSpPr>
        <p:spPr>
          <a:xfrm rot="0">
            <a:off x="9495664" y="2439005"/>
            <a:ext cx="3229421"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Khái </a:t>
            </a:r>
            <a:r>
              <a:rPr lang="en-US" sz="2799" b="true">
                <a:solidFill>
                  <a:srgbClr val="1C1917"/>
                </a:solidFill>
                <a:latin typeface="Public Sans Bold"/>
                <a:ea typeface="Public Sans Bold"/>
                <a:cs typeface="Public Sans Bold"/>
                <a:sym typeface="Public Sans Bold"/>
              </a:rPr>
              <a:t>niệm &amp; Vai trò</a:t>
            </a:r>
          </a:p>
        </p:txBody>
      </p:sp>
      <p:sp>
        <p:nvSpPr>
          <p:cNvPr name="TextBox 11" id="11"/>
          <p:cNvSpPr txBox="true"/>
          <p:nvPr/>
        </p:nvSpPr>
        <p:spPr>
          <a:xfrm rot="0">
            <a:off x="9750414" y="2953355"/>
            <a:ext cx="8537586" cy="16859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Là một b</a:t>
            </a:r>
            <a:r>
              <a:rPr lang="en-US" sz="2799">
                <a:solidFill>
                  <a:srgbClr val="57534E"/>
                </a:solidFill>
                <a:latin typeface="Public Sans"/>
                <a:ea typeface="Public Sans"/>
                <a:cs typeface="Public Sans"/>
                <a:sym typeface="Public Sans"/>
              </a:rPr>
              <a:t>ộ công cụ kết xuất đồ họa bản đồ mã nguồn mở được thiết kế tối ưu hóa riêng cho nền tảng Flutter. Nó thay thế hoàn toàn Google Maps SDK nặng nề.</a:t>
            </a:r>
          </a:p>
        </p:txBody>
      </p:sp>
      <p:sp>
        <p:nvSpPr>
          <p:cNvPr name="TextBox 12" id="12"/>
          <p:cNvSpPr txBox="true"/>
          <p:nvPr/>
        </p:nvSpPr>
        <p:spPr>
          <a:xfrm rot="0">
            <a:off x="9520449" y="4870557"/>
            <a:ext cx="2945160"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Cơ</a:t>
            </a:r>
            <a:r>
              <a:rPr lang="en-US" sz="2799" b="true">
                <a:solidFill>
                  <a:srgbClr val="1C1917"/>
                </a:solidFill>
                <a:latin typeface="Public Sans Bold"/>
                <a:ea typeface="Public Sans Bold"/>
                <a:cs typeface="Public Sans Bold"/>
                <a:sym typeface="Public Sans Bold"/>
              </a:rPr>
              <a:t> chế hoạt động</a:t>
            </a:r>
          </a:p>
        </p:txBody>
      </p:sp>
      <p:sp>
        <p:nvSpPr>
          <p:cNvPr name="TextBox 13" id="13"/>
          <p:cNvSpPr txBox="true"/>
          <p:nvPr/>
        </p:nvSpPr>
        <p:spPr>
          <a:xfrm rot="0">
            <a:off x="9750414" y="5415464"/>
            <a:ext cx="8340389" cy="1686074"/>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Thay vì</a:t>
            </a:r>
            <a:r>
              <a:rPr lang="en-US" sz="2799">
                <a:solidFill>
                  <a:srgbClr val="57534E"/>
                </a:solidFill>
                <a:latin typeface="Public Sans"/>
                <a:ea typeface="Public Sans"/>
                <a:cs typeface="Public Sans"/>
                <a:sym typeface="Public Sans"/>
              </a:rPr>
              <a:t> tải toàn bộ một bản đồ nguyên khối khổng lồ, flutter_map chia không gian thành lưới tọa độ và chỉ tải về các mảnh ảnh nhỏ (Map Tiles) tương ứng với khung hình người dùng đang xem.</a:t>
            </a:r>
          </a:p>
        </p:txBody>
      </p:sp>
      <p:sp>
        <p:nvSpPr>
          <p:cNvPr name="TextBox 14" id="14"/>
          <p:cNvSpPr txBox="true"/>
          <p:nvPr/>
        </p:nvSpPr>
        <p:spPr>
          <a:xfrm rot="0">
            <a:off x="9495664" y="7421435"/>
            <a:ext cx="3271838"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Hiệu năng</a:t>
            </a:r>
            <a:r>
              <a:rPr lang="en-US" sz="2799" b="true">
                <a:solidFill>
                  <a:srgbClr val="1C1917"/>
                </a:solidFill>
                <a:latin typeface="Public Sans Bold"/>
                <a:ea typeface="Public Sans Bold"/>
                <a:cs typeface="Public Sans Bold"/>
                <a:sym typeface="Public Sans Bold"/>
              </a:rPr>
              <a:t> vượt trội</a:t>
            </a:r>
          </a:p>
        </p:txBody>
      </p:sp>
      <p:sp>
        <p:nvSpPr>
          <p:cNvPr name="TextBox 15" id="15"/>
          <p:cNvSpPr txBox="true"/>
          <p:nvPr/>
        </p:nvSpPr>
        <p:spPr>
          <a:xfrm rot="0">
            <a:off x="9750414" y="8034839"/>
            <a:ext cx="8340389" cy="1686074"/>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Nhờ khả</a:t>
            </a:r>
            <a:r>
              <a:rPr lang="en-US" sz="2799">
                <a:solidFill>
                  <a:srgbClr val="57534E"/>
                </a:solidFill>
                <a:latin typeface="Public Sans"/>
                <a:ea typeface="Public Sans"/>
                <a:cs typeface="Public Sans"/>
                <a:sym typeface="Public Sans"/>
              </a:rPr>
              <a:t> năng tận dụng engine render đồ họa của Flutter (Skia/Impeller), bản đồ thao tác vuốt, chạm, thu phóng (zoom-in/out) luôn đạt độ mượt mà tối đa 60 khung hình/giây (fps)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29000" y="3736181"/>
            <a:ext cx="11430000" cy="1471612"/>
            <a:chOff x="0" y="0"/>
            <a:chExt cx="15240000" cy="1962150"/>
          </a:xfrm>
        </p:grpSpPr>
        <p:sp>
          <p:nvSpPr>
            <p:cNvPr name="Freeform 3" id="3"/>
            <p:cNvSpPr/>
            <p:nvPr/>
          </p:nvSpPr>
          <p:spPr>
            <a:xfrm flipH="false" flipV="false" rot="0">
              <a:off x="0" y="0"/>
              <a:ext cx="15240000" cy="1962150"/>
            </a:xfrm>
            <a:custGeom>
              <a:avLst/>
              <a:gdLst/>
              <a:ahLst/>
              <a:cxnLst/>
              <a:rect r="r" b="b" t="t" l="l"/>
              <a:pathLst>
                <a:path h="1962150" w="15240000">
                  <a:moveTo>
                    <a:pt x="0" y="457200"/>
                  </a:moveTo>
                  <a:cubicBezTo>
                    <a:pt x="0" y="204724"/>
                    <a:pt x="204724" y="0"/>
                    <a:pt x="457200" y="0"/>
                  </a:cubicBezTo>
                  <a:lnTo>
                    <a:pt x="14782800" y="0"/>
                  </a:lnTo>
                  <a:cubicBezTo>
                    <a:pt x="15035276" y="0"/>
                    <a:pt x="15240000" y="204724"/>
                    <a:pt x="15240000" y="457200"/>
                  </a:cubicBezTo>
                  <a:lnTo>
                    <a:pt x="15240000" y="1504950"/>
                  </a:lnTo>
                  <a:cubicBezTo>
                    <a:pt x="15240000" y="1757426"/>
                    <a:pt x="15035276" y="1962150"/>
                    <a:pt x="14782800" y="1962150"/>
                  </a:cubicBezTo>
                  <a:lnTo>
                    <a:pt x="457200" y="1962150"/>
                  </a:lnTo>
                  <a:cubicBezTo>
                    <a:pt x="204724" y="1962150"/>
                    <a:pt x="0" y="1757426"/>
                    <a:pt x="0" y="1504950"/>
                  </a:cubicBezTo>
                  <a:close/>
                </a:path>
              </a:pathLst>
            </a:custGeom>
            <a:solidFill>
              <a:srgbClr val="FAFAF9"/>
            </a:solidFill>
          </p:spPr>
        </p:sp>
      </p:grpSp>
      <p:grpSp>
        <p:nvGrpSpPr>
          <p:cNvPr name="Group 4" id="4"/>
          <p:cNvGrpSpPr/>
          <p:nvPr/>
        </p:nvGrpSpPr>
        <p:grpSpPr>
          <a:xfrm rot="0">
            <a:off x="3429000" y="5550694"/>
            <a:ext cx="11430000" cy="1471612"/>
            <a:chOff x="0" y="0"/>
            <a:chExt cx="15240000" cy="1962150"/>
          </a:xfrm>
        </p:grpSpPr>
        <p:sp>
          <p:nvSpPr>
            <p:cNvPr name="Freeform 5" id="5"/>
            <p:cNvSpPr/>
            <p:nvPr/>
          </p:nvSpPr>
          <p:spPr>
            <a:xfrm flipH="false" flipV="false" rot="0">
              <a:off x="0" y="0"/>
              <a:ext cx="15240000" cy="1962150"/>
            </a:xfrm>
            <a:custGeom>
              <a:avLst/>
              <a:gdLst/>
              <a:ahLst/>
              <a:cxnLst/>
              <a:rect r="r" b="b" t="t" l="l"/>
              <a:pathLst>
                <a:path h="1962150" w="15240000">
                  <a:moveTo>
                    <a:pt x="0" y="457200"/>
                  </a:moveTo>
                  <a:cubicBezTo>
                    <a:pt x="0" y="204724"/>
                    <a:pt x="204724" y="0"/>
                    <a:pt x="457200" y="0"/>
                  </a:cubicBezTo>
                  <a:lnTo>
                    <a:pt x="14782800" y="0"/>
                  </a:lnTo>
                  <a:cubicBezTo>
                    <a:pt x="15035276" y="0"/>
                    <a:pt x="15240000" y="204724"/>
                    <a:pt x="15240000" y="457200"/>
                  </a:cubicBezTo>
                  <a:lnTo>
                    <a:pt x="15240000" y="1504950"/>
                  </a:lnTo>
                  <a:cubicBezTo>
                    <a:pt x="15240000" y="1757426"/>
                    <a:pt x="15035276" y="1962150"/>
                    <a:pt x="14782800" y="1962150"/>
                  </a:cubicBezTo>
                  <a:lnTo>
                    <a:pt x="457200" y="1962150"/>
                  </a:lnTo>
                  <a:cubicBezTo>
                    <a:pt x="204724" y="1962150"/>
                    <a:pt x="0" y="1757426"/>
                    <a:pt x="0" y="1504950"/>
                  </a:cubicBezTo>
                  <a:close/>
                </a:path>
              </a:pathLst>
            </a:custGeom>
            <a:solidFill>
              <a:srgbClr val="FAFAF9"/>
            </a:solidFill>
          </p:spPr>
        </p:sp>
      </p:grpSp>
      <p:grpSp>
        <p:nvGrpSpPr>
          <p:cNvPr name="Group 6" id="6"/>
          <p:cNvGrpSpPr/>
          <p:nvPr/>
        </p:nvGrpSpPr>
        <p:grpSpPr>
          <a:xfrm rot="0">
            <a:off x="3429000" y="7365206"/>
            <a:ext cx="11430000" cy="1471612"/>
            <a:chOff x="0" y="0"/>
            <a:chExt cx="15240000" cy="1962150"/>
          </a:xfrm>
        </p:grpSpPr>
        <p:sp>
          <p:nvSpPr>
            <p:cNvPr name="Freeform 7" id="7"/>
            <p:cNvSpPr/>
            <p:nvPr/>
          </p:nvSpPr>
          <p:spPr>
            <a:xfrm flipH="false" flipV="false" rot="0">
              <a:off x="0" y="0"/>
              <a:ext cx="15240000" cy="1962150"/>
            </a:xfrm>
            <a:custGeom>
              <a:avLst/>
              <a:gdLst/>
              <a:ahLst/>
              <a:cxnLst/>
              <a:rect r="r" b="b" t="t" l="l"/>
              <a:pathLst>
                <a:path h="1962150" w="15240000">
                  <a:moveTo>
                    <a:pt x="0" y="457200"/>
                  </a:moveTo>
                  <a:cubicBezTo>
                    <a:pt x="0" y="204724"/>
                    <a:pt x="204724" y="0"/>
                    <a:pt x="457200" y="0"/>
                  </a:cubicBezTo>
                  <a:lnTo>
                    <a:pt x="14782800" y="0"/>
                  </a:lnTo>
                  <a:cubicBezTo>
                    <a:pt x="15035276" y="0"/>
                    <a:pt x="15240000" y="204724"/>
                    <a:pt x="15240000" y="457200"/>
                  </a:cubicBezTo>
                  <a:lnTo>
                    <a:pt x="15240000" y="1504950"/>
                  </a:lnTo>
                  <a:cubicBezTo>
                    <a:pt x="15240000" y="1757426"/>
                    <a:pt x="15035276" y="1962150"/>
                    <a:pt x="14782800" y="1962150"/>
                  </a:cubicBezTo>
                  <a:lnTo>
                    <a:pt x="457200" y="1962150"/>
                  </a:lnTo>
                  <a:cubicBezTo>
                    <a:pt x="204724" y="1962150"/>
                    <a:pt x="0" y="1757426"/>
                    <a:pt x="0" y="1504950"/>
                  </a:cubicBezTo>
                  <a:close/>
                </a:path>
              </a:pathLst>
            </a:custGeom>
            <a:solidFill>
              <a:srgbClr val="FFF7ED"/>
            </a:solidFill>
          </p:spPr>
        </p:sp>
      </p:grpSp>
      <p:grpSp>
        <p:nvGrpSpPr>
          <p:cNvPr name="Group 8" id="8"/>
          <p:cNvGrpSpPr/>
          <p:nvPr/>
        </p:nvGrpSpPr>
        <p:grpSpPr>
          <a:xfrm rot="0">
            <a:off x="3429000" y="3736181"/>
            <a:ext cx="85725" cy="1471612"/>
            <a:chOff x="0" y="0"/>
            <a:chExt cx="114300" cy="1962150"/>
          </a:xfrm>
        </p:grpSpPr>
        <p:sp>
          <p:nvSpPr>
            <p:cNvPr name="Freeform 9" id="9"/>
            <p:cNvSpPr/>
            <p:nvPr/>
          </p:nvSpPr>
          <p:spPr>
            <a:xfrm flipH="false" flipV="false" rot="0">
              <a:off x="0" y="0"/>
              <a:ext cx="114300" cy="1962150"/>
            </a:xfrm>
            <a:custGeom>
              <a:avLst/>
              <a:gdLst/>
              <a:ahLst/>
              <a:cxnLst/>
              <a:rect r="r" b="b" t="t" l="l"/>
              <a:pathLst>
                <a:path h="1962150" w="114300">
                  <a:moveTo>
                    <a:pt x="0" y="0"/>
                  </a:moveTo>
                  <a:lnTo>
                    <a:pt x="114300" y="0"/>
                  </a:lnTo>
                  <a:lnTo>
                    <a:pt x="114300" y="1962150"/>
                  </a:lnTo>
                  <a:lnTo>
                    <a:pt x="0" y="1962150"/>
                  </a:lnTo>
                  <a:close/>
                </a:path>
              </a:pathLst>
            </a:custGeom>
            <a:solidFill>
              <a:srgbClr val="E2E8F0"/>
            </a:solidFill>
          </p:spPr>
        </p:sp>
      </p:grpSp>
      <p:grpSp>
        <p:nvGrpSpPr>
          <p:cNvPr name="Group 10" id="10"/>
          <p:cNvGrpSpPr/>
          <p:nvPr/>
        </p:nvGrpSpPr>
        <p:grpSpPr>
          <a:xfrm rot="0">
            <a:off x="3429000" y="5550694"/>
            <a:ext cx="85725" cy="1471612"/>
            <a:chOff x="0" y="0"/>
            <a:chExt cx="114300" cy="1962150"/>
          </a:xfrm>
        </p:grpSpPr>
        <p:sp>
          <p:nvSpPr>
            <p:cNvPr name="Freeform 11" id="11"/>
            <p:cNvSpPr/>
            <p:nvPr/>
          </p:nvSpPr>
          <p:spPr>
            <a:xfrm flipH="false" flipV="false" rot="0">
              <a:off x="0" y="0"/>
              <a:ext cx="114300" cy="1962150"/>
            </a:xfrm>
            <a:custGeom>
              <a:avLst/>
              <a:gdLst/>
              <a:ahLst/>
              <a:cxnLst/>
              <a:rect r="r" b="b" t="t" l="l"/>
              <a:pathLst>
                <a:path h="1962150" w="114300">
                  <a:moveTo>
                    <a:pt x="0" y="0"/>
                  </a:moveTo>
                  <a:lnTo>
                    <a:pt x="114300" y="0"/>
                  </a:lnTo>
                  <a:lnTo>
                    <a:pt x="114300" y="1962150"/>
                  </a:lnTo>
                  <a:lnTo>
                    <a:pt x="0" y="1962150"/>
                  </a:lnTo>
                  <a:close/>
                </a:path>
              </a:pathLst>
            </a:custGeom>
            <a:solidFill>
              <a:srgbClr val="1C1917"/>
            </a:solidFill>
          </p:spPr>
        </p:sp>
      </p:grpSp>
      <p:grpSp>
        <p:nvGrpSpPr>
          <p:cNvPr name="Group 12" id="12"/>
          <p:cNvGrpSpPr/>
          <p:nvPr/>
        </p:nvGrpSpPr>
        <p:grpSpPr>
          <a:xfrm rot="0">
            <a:off x="3429000" y="7365206"/>
            <a:ext cx="85725" cy="1471612"/>
            <a:chOff x="0" y="0"/>
            <a:chExt cx="114300" cy="1962150"/>
          </a:xfrm>
        </p:grpSpPr>
        <p:sp>
          <p:nvSpPr>
            <p:cNvPr name="Freeform 13" id="13"/>
            <p:cNvSpPr/>
            <p:nvPr/>
          </p:nvSpPr>
          <p:spPr>
            <a:xfrm flipH="false" flipV="false" rot="0">
              <a:off x="0" y="0"/>
              <a:ext cx="114300" cy="1962150"/>
            </a:xfrm>
            <a:custGeom>
              <a:avLst/>
              <a:gdLst/>
              <a:ahLst/>
              <a:cxnLst/>
              <a:rect r="r" b="b" t="t" l="l"/>
              <a:pathLst>
                <a:path h="1962150" w="114300">
                  <a:moveTo>
                    <a:pt x="0" y="0"/>
                  </a:moveTo>
                  <a:lnTo>
                    <a:pt x="114300" y="0"/>
                  </a:lnTo>
                  <a:lnTo>
                    <a:pt x="114300" y="1962150"/>
                  </a:lnTo>
                  <a:lnTo>
                    <a:pt x="0" y="1962150"/>
                  </a:lnTo>
                  <a:close/>
                </a:path>
              </a:pathLst>
            </a:custGeom>
            <a:solidFill>
              <a:srgbClr val="FF6B2B"/>
            </a:solidFill>
          </p:spPr>
        </p:sp>
      </p:grpSp>
      <p:grpSp>
        <p:nvGrpSpPr>
          <p:cNvPr name="Group 14" id="14"/>
          <p:cNvGrpSpPr/>
          <p:nvPr/>
        </p:nvGrpSpPr>
        <p:grpSpPr>
          <a:xfrm rot="0">
            <a:off x="3971925" y="4243388"/>
            <a:ext cx="685800" cy="457200"/>
            <a:chOff x="0" y="0"/>
            <a:chExt cx="914400" cy="609600"/>
          </a:xfrm>
        </p:grpSpPr>
        <p:sp>
          <p:nvSpPr>
            <p:cNvPr name="Freeform 15" id="15" descr="image.png"/>
            <p:cNvSpPr/>
            <p:nvPr/>
          </p:nvSpPr>
          <p:spPr>
            <a:xfrm flipH="false" flipV="false" rot="0">
              <a:off x="0" y="0"/>
              <a:ext cx="914400" cy="609600"/>
            </a:xfrm>
            <a:custGeom>
              <a:avLst/>
              <a:gdLst/>
              <a:ahLst/>
              <a:cxnLst/>
              <a:rect r="r" b="b" t="t" l="l"/>
              <a:pathLst>
                <a:path h="609600" w="914400">
                  <a:moveTo>
                    <a:pt x="0" y="0"/>
                  </a:moveTo>
                  <a:lnTo>
                    <a:pt x="914400" y="0"/>
                  </a:lnTo>
                  <a:lnTo>
                    <a:pt x="914400" y="609600"/>
                  </a:lnTo>
                  <a:lnTo>
                    <a:pt x="0" y="609600"/>
                  </a:lnTo>
                  <a:lnTo>
                    <a:pt x="0" y="0"/>
                  </a:lnTo>
                  <a:close/>
                </a:path>
              </a:pathLst>
            </a:custGeom>
            <a:blipFill>
              <a:blip r:embed="rId2"/>
              <a:stretch>
                <a:fillRect l="0" t="0" r="0" b="0"/>
              </a:stretch>
            </a:blipFill>
          </p:spPr>
        </p:sp>
      </p:grpSp>
      <p:grpSp>
        <p:nvGrpSpPr>
          <p:cNvPr name="Group 16" id="16"/>
          <p:cNvGrpSpPr/>
          <p:nvPr/>
        </p:nvGrpSpPr>
        <p:grpSpPr>
          <a:xfrm rot="0">
            <a:off x="3971925" y="6057900"/>
            <a:ext cx="685800" cy="457200"/>
            <a:chOff x="0" y="0"/>
            <a:chExt cx="914400" cy="609600"/>
          </a:xfrm>
        </p:grpSpPr>
        <p:sp>
          <p:nvSpPr>
            <p:cNvPr name="Freeform 17" id="17" descr="image.png"/>
            <p:cNvSpPr/>
            <p:nvPr/>
          </p:nvSpPr>
          <p:spPr>
            <a:xfrm flipH="false" flipV="false" rot="0">
              <a:off x="0" y="0"/>
              <a:ext cx="914400" cy="609600"/>
            </a:xfrm>
            <a:custGeom>
              <a:avLst/>
              <a:gdLst/>
              <a:ahLst/>
              <a:cxnLst/>
              <a:rect r="r" b="b" t="t" l="l"/>
              <a:pathLst>
                <a:path h="609600" w="914400">
                  <a:moveTo>
                    <a:pt x="0" y="0"/>
                  </a:moveTo>
                  <a:lnTo>
                    <a:pt x="914400" y="0"/>
                  </a:lnTo>
                  <a:lnTo>
                    <a:pt x="914400" y="609600"/>
                  </a:lnTo>
                  <a:lnTo>
                    <a:pt x="0" y="609600"/>
                  </a:lnTo>
                  <a:lnTo>
                    <a:pt x="0" y="0"/>
                  </a:lnTo>
                  <a:close/>
                </a:path>
              </a:pathLst>
            </a:custGeom>
            <a:blipFill>
              <a:blip r:embed="rId3"/>
              <a:stretch>
                <a:fillRect l="0" t="0" r="0" b="0"/>
              </a:stretch>
            </a:blipFill>
          </p:spPr>
        </p:sp>
      </p:grpSp>
      <p:grpSp>
        <p:nvGrpSpPr>
          <p:cNvPr name="Group 18" id="18"/>
          <p:cNvGrpSpPr/>
          <p:nvPr/>
        </p:nvGrpSpPr>
        <p:grpSpPr>
          <a:xfrm rot="0">
            <a:off x="3971925" y="7872412"/>
            <a:ext cx="685800" cy="457200"/>
            <a:chOff x="0" y="0"/>
            <a:chExt cx="914400" cy="609600"/>
          </a:xfrm>
        </p:grpSpPr>
        <p:sp>
          <p:nvSpPr>
            <p:cNvPr name="Freeform 19" id="19" descr="image.png"/>
            <p:cNvSpPr/>
            <p:nvPr/>
          </p:nvSpPr>
          <p:spPr>
            <a:xfrm flipH="false" flipV="false" rot="0">
              <a:off x="0" y="0"/>
              <a:ext cx="914400" cy="609600"/>
            </a:xfrm>
            <a:custGeom>
              <a:avLst/>
              <a:gdLst/>
              <a:ahLst/>
              <a:cxnLst/>
              <a:rect r="r" b="b" t="t" l="l"/>
              <a:pathLst>
                <a:path h="609600" w="914400">
                  <a:moveTo>
                    <a:pt x="0" y="0"/>
                  </a:moveTo>
                  <a:lnTo>
                    <a:pt x="914400" y="0"/>
                  </a:lnTo>
                  <a:lnTo>
                    <a:pt x="914400" y="609600"/>
                  </a:lnTo>
                  <a:lnTo>
                    <a:pt x="0" y="609600"/>
                  </a:lnTo>
                  <a:lnTo>
                    <a:pt x="0" y="0"/>
                  </a:lnTo>
                  <a:close/>
                </a:path>
              </a:pathLst>
            </a:custGeom>
            <a:blipFill>
              <a:blip r:embed="rId4"/>
              <a:stretch>
                <a:fillRect l="0" t="0" r="0" b="0"/>
              </a:stretch>
            </a:blipFill>
          </p:spPr>
        </p:sp>
      </p:grpSp>
      <p:sp>
        <p:nvSpPr>
          <p:cNvPr name="TextBox 20" id="20"/>
          <p:cNvSpPr txBox="true"/>
          <p:nvPr/>
        </p:nvSpPr>
        <p:spPr>
          <a:xfrm rot="0">
            <a:off x="7486233" y="1440656"/>
            <a:ext cx="3315533" cy="428625"/>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CẤU TRÚC ĐỒ HỌA</a:t>
            </a:r>
          </a:p>
        </p:txBody>
      </p:sp>
      <p:sp>
        <p:nvSpPr>
          <p:cNvPr name="TextBox 21" id="21"/>
          <p:cNvSpPr txBox="true"/>
          <p:nvPr/>
        </p:nvSpPr>
        <p:spPr>
          <a:xfrm rot="0">
            <a:off x="4460974" y="1964531"/>
            <a:ext cx="9366052"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Kiến trúc Xếp chồng (Layers)</a:t>
            </a:r>
          </a:p>
        </p:txBody>
      </p:sp>
      <p:sp>
        <p:nvSpPr>
          <p:cNvPr name="TextBox 22" id="22"/>
          <p:cNvSpPr txBox="true"/>
          <p:nvPr/>
        </p:nvSpPr>
        <p:spPr>
          <a:xfrm rot="0">
            <a:off x="5000625" y="4060031"/>
            <a:ext cx="3557230" cy="476250"/>
          </a:xfrm>
          <a:prstGeom prst="rect">
            <a:avLst/>
          </a:prstGeom>
        </p:spPr>
        <p:txBody>
          <a:bodyPr anchor="t" rtlCol="false" tIns="0" lIns="0" bIns="0" rIns="0">
            <a:spAutoFit/>
          </a:bodyPr>
          <a:lstStyle/>
          <a:p>
            <a:pPr algn="l">
              <a:lnSpc>
                <a:spcPts val="3600"/>
              </a:lnSpc>
            </a:pPr>
            <a:r>
              <a:rPr lang="en-US" sz="3000" b="true">
                <a:solidFill>
                  <a:srgbClr val="1C1917"/>
                </a:solidFill>
                <a:latin typeface="Public Sans Bold"/>
                <a:ea typeface="Public Sans Bold"/>
                <a:cs typeface="Public Sans Bold"/>
                <a:sym typeface="Public Sans Bold"/>
              </a:rPr>
              <a:t>TileLayer (Lớp Nền)</a:t>
            </a:r>
          </a:p>
        </p:txBody>
      </p:sp>
      <p:sp>
        <p:nvSpPr>
          <p:cNvPr name="TextBox 23" id="23"/>
          <p:cNvSpPr txBox="true"/>
          <p:nvPr/>
        </p:nvSpPr>
        <p:spPr>
          <a:xfrm rot="0">
            <a:off x="5000625" y="4555331"/>
            <a:ext cx="6684615" cy="428662"/>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Lót các mảnh ảnh bản đồ 256x256 pixel.</a:t>
            </a:r>
          </a:p>
        </p:txBody>
      </p:sp>
      <p:sp>
        <p:nvSpPr>
          <p:cNvPr name="TextBox 24" id="24"/>
          <p:cNvSpPr txBox="true"/>
          <p:nvPr/>
        </p:nvSpPr>
        <p:spPr>
          <a:xfrm rot="0">
            <a:off x="5000625" y="5874544"/>
            <a:ext cx="4782503" cy="476250"/>
          </a:xfrm>
          <a:prstGeom prst="rect">
            <a:avLst/>
          </a:prstGeom>
        </p:spPr>
        <p:txBody>
          <a:bodyPr anchor="t" rtlCol="false" tIns="0" lIns="0" bIns="0" rIns="0">
            <a:spAutoFit/>
          </a:bodyPr>
          <a:lstStyle/>
          <a:p>
            <a:pPr algn="l">
              <a:lnSpc>
                <a:spcPts val="3600"/>
              </a:lnSpc>
            </a:pPr>
            <a:r>
              <a:rPr lang="en-US" sz="3000" b="true">
                <a:solidFill>
                  <a:srgbClr val="1C1917"/>
                </a:solidFill>
                <a:latin typeface="Public Sans Bold"/>
                <a:ea typeface="Public Sans Bold"/>
                <a:cs typeface="Public Sans Bold"/>
                <a:sym typeface="Public Sans Bold"/>
              </a:rPr>
              <a:t>PolylineLayer (Lớp Nét vẽ)</a:t>
            </a:r>
          </a:p>
        </p:txBody>
      </p:sp>
      <p:sp>
        <p:nvSpPr>
          <p:cNvPr name="TextBox 25" id="25"/>
          <p:cNvSpPr txBox="true"/>
          <p:nvPr/>
        </p:nvSpPr>
        <p:spPr>
          <a:xfrm rot="0">
            <a:off x="5000625" y="6369844"/>
            <a:ext cx="8194849" cy="428662"/>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Vẽ các đường kẻ màu gấp khúc mô phỏng lộ trình.</a:t>
            </a:r>
          </a:p>
        </p:txBody>
      </p:sp>
      <p:sp>
        <p:nvSpPr>
          <p:cNvPr name="TextBox 26" id="26"/>
          <p:cNvSpPr txBox="true"/>
          <p:nvPr/>
        </p:nvSpPr>
        <p:spPr>
          <a:xfrm rot="0">
            <a:off x="5000625" y="7689056"/>
            <a:ext cx="4413528" cy="476250"/>
          </a:xfrm>
          <a:prstGeom prst="rect">
            <a:avLst/>
          </a:prstGeom>
        </p:spPr>
        <p:txBody>
          <a:bodyPr anchor="t" rtlCol="false" tIns="0" lIns="0" bIns="0" rIns="0">
            <a:spAutoFit/>
          </a:bodyPr>
          <a:lstStyle/>
          <a:p>
            <a:pPr algn="l">
              <a:lnSpc>
                <a:spcPts val="3600"/>
              </a:lnSpc>
            </a:pPr>
            <a:r>
              <a:rPr lang="en-US" sz="3000" b="true">
                <a:solidFill>
                  <a:srgbClr val="0F172A"/>
                </a:solidFill>
                <a:latin typeface="Public Sans Bold"/>
                <a:ea typeface="Public Sans Bold"/>
                <a:cs typeface="Public Sans Bold"/>
                <a:sym typeface="Public Sans Bold"/>
              </a:rPr>
              <a:t>MarkerLayer (Lớp Ghim)</a:t>
            </a:r>
          </a:p>
        </p:txBody>
      </p:sp>
      <p:sp>
        <p:nvSpPr>
          <p:cNvPr name="TextBox 27" id="27"/>
          <p:cNvSpPr txBox="true"/>
          <p:nvPr/>
        </p:nvSpPr>
        <p:spPr>
          <a:xfrm rot="0">
            <a:off x="5000625" y="8184356"/>
            <a:ext cx="8598173" cy="428662"/>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Đính Icon Shipper động nổi trên cùng bề mặt bản đồ.</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331"/>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625923" y="889057"/>
            <a:ext cx="6829425" cy="4076040"/>
            <a:chOff x="0" y="0"/>
            <a:chExt cx="9105900" cy="5434720"/>
          </a:xfrm>
        </p:grpSpPr>
        <p:sp>
          <p:nvSpPr>
            <p:cNvPr name="Freeform 5" id="5"/>
            <p:cNvSpPr/>
            <p:nvPr/>
          </p:nvSpPr>
          <p:spPr>
            <a:xfrm flipH="false" flipV="false" rot="0">
              <a:off x="0" y="0"/>
              <a:ext cx="9105900" cy="5434720"/>
            </a:xfrm>
            <a:custGeom>
              <a:avLst/>
              <a:gdLst/>
              <a:ahLst/>
              <a:cxnLst/>
              <a:rect r="r" b="b" t="t" l="l"/>
              <a:pathLst>
                <a:path h="5434720" w="9105900">
                  <a:moveTo>
                    <a:pt x="0" y="583568"/>
                  </a:moveTo>
                  <a:cubicBezTo>
                    <a:pt x="0" y="261229"/>
                    <a:pt x="274701" y="0"/>
                    <a:pt x="613664" y="0"/>
                  </a:cubicBezTo>
                  <a:lnTo>
                    <a:pt x="8492236" y="0"/>
                  </a:lnTo>
                  <a:cubicBezTo>
                    <a:pt x="8831199" y="0"/>
                    <a:pt x="9105900" y="261229"/>
                    <a:pt x="9105900" y="583568"/>
                  </a:cubicBezTo>
                  <a:lnTo>
                    <a:pt x="9105900" y="4851152"/>
                  </a:lnTo>
                  <a:cubicBezTo>
                    <a:pt x="9105900" y="5173491"/>
                    <a:pt x="8831199" y="5434720"/>
                    <a:pt x="8492236" y="5434720"/>
                  </a:cubicBezTo>
                  <a:lnTo>
                    <a:pt x="613664" y="5434720"/>
                  </a:lnTo>
                  <a:cubicBezTo>
                    <a:pt x="274701" y="5434720"/>
                    <a:pt x="0" y="5173491"/>
                    <a:pt x="0" y="4851152"/>
                  </a:cubicBezTo>
                  <a:close/>
                </a:path>
              </a:pathLst>
            </a:custGeom>
            <a:solidFill>
              <a:srgbClr val="FFF7ED"/>
            </a:solidFill>
            <a:ln w="28575" cap="sq">
              <a:solidFill>
                <a:srgbClr val="FF6B2B"/>
              </a:solidFill>
              <a:prstDash val="solid"/>
              <a:miter/>
            </a:ln>
          </p:spPr>
        </p:sp>
      </p:grpSp>
      <p:sp>
        <p:nvSpPr>
          <p:cNvPr name="TextBox 6" id="6"/>
          <p:cNvSpPr txBox="true"/>
          <p:nvPr/>
        </p:nvSpPr>
        <p:spPr>
          <a:xfrm rot="0">
            <a:off x="1126621" y="1965114"/>
            <a:ext cx="7715392" cy="857287"/>
          </a:xfrm>
          <a:prstGeom prst="rect">
            <a:avLst/>
          </a:prstGeom>
        </p:spPr>
        <p:txBody>
          <a:bodyPr anchor="t" rtlCol="false" tIns="0" lIns="0" bIns="0" rIns="0">
            <a:spAutoFit/>
          </a:bodyPr>
          <a:lstStyle/>
          <a:p>
            <a:pPr algn="l">
              <a:lnSpc>
                <a:spcPts val="6720"/>
              </a:lnSpc>
            </a:pPr>
            <a:r>
              <a:rPr lang="en-US" sz="5600" b="true">
                <a:solidFill>
                  <a:srgbClr val="1C1917"/>
                </a:solidFill>
                <a:latin typeface="Public Sans Bold"/>
                <a:ea typeface="Public Sans Bold"/>
                <a:cs typeface="Public Sans Bold"/>
                <a:sym typeface="Public Sans Bold"/>
              </a:rPr>
              <a:t>Sử dụng</a:t>
            </a:r>
            <a:r>
              <a:rPr lang="en-US" sz="5600" b="true">
                <a:solidFill>
                  <a:srgbClr val="1C1917"/>
                </a:solidFill>
                <a:latin typeface="Public Sans Bold"/>
                <a:ea typeface="Public Sans Bold"/>
                <a:cs typeface="Public Sans Bold"/>
                <a:sym typeface="Public Sans Bold"/>
              </a:rPr>
              <a:t> Esri ArcGIS</a:t>
            </a:r>
          </a:p>
        </p:txBody>
      </p:sp>
      <p:sp>
        <p:nvSpPr>
          <p:cNvPr name="TextBox 7" id="7"/>
          <p:cNvSpPr txBox="true"/>
          <p:nvPr/>
        </p:nvSpPr>
        <p:spPr>
          <a:xfrm rot="0">
            <a:off x="10556795" y="1175327"/>
            <a:ext cx="4942165" cy="552450"/>
          </a:xfrm>
          <a:prstGeom prst="rect">
            <a:avLst/>
          </a:prstGeom>
        </p:spPr>
        <p:txBody>
          <a:bodyPr anchor="t" rtlCol="false" tIns="0" lIns="0" bIns="0" rIns="0">
            <a:spAutoFit/>
          </a:bodyPr>
          <a:lstStyle/>
          <a:p>
            <a:pPr algn="ctr">
              <a:lnSpc>
                <a:spcPts val="4320"/>
              </a:lnSpc>
            </a:pPr>
            <a:r>
              <a:rPr lang="en-US" sz="3600" b="true">
                <a:solidFill>
                  <a:srgbClr val="0F172A"/>
                </a:solidFill>
                <a:latin typeface="Public Sans Bold"/>
                <a:ea typeface="Public Sans Bold"/>
                <a:cs typeface="Public Sans Bold"/>
                <a:sym typeface="Public Sans Bold"/>
              </a:rPr>
              <a:t>Phân tích rủi ro thực tế</a:t>
            </a:r>
          </a:p>
        </p:txBody>
      </p:sp>
      <p:sp>
        <p:nvSpPr>
          <p:cNvPr name="TextBox 8" id="8"/>
          <p:cNvSpPr txBox="true"/>
          <p:nvPr/>
        </p:nvSpPr>
        <p:spPr>
          <a:xfrm rot="0">
            <a:off x="9893621" y="1965114"/>
            <a:ext cx="6294028" cy="2524348"/>
          </a:xfrm>
          <a:prstGeom prst="rect">
            <a:avLst/>
          </a:prstGeom>
        </p:spPr>
        <p:txBody>
          <a:bodyPr anchor="t" rtlCol="false" tIns="0" lIns="0" bIns="0" rIns="0">
            <a:spAutoFit/>
          </a:bodyPr>
          <a:lstStyle/>
          <a:p>
            <a:pPr algn="ctr">
              <a:lnSpc>
                <a:spcPts val="3359"/>
              </a:lnSpc>
            </a:pPr>
            <a:r>
              <a:rPr lang="en-US" sz="2799">
                <a:solidFill>
                  <a:srgbClr val="1C1917"/>
                </a:solidFill>
                <a:latin typeface="Public Sans"/>
                <a:ea typeface="Public Sans"/>
                <a:cs typeface="Public Sans"/>
                <a:sym typeface="Public Sans"/>
              </a:rPr>
              <a:t>Trong quá trình thực nghiệm, máy chủ gốc của OSM (tile.openstreetmap.org) thường xuyên từ chối kết nối (lỗi Connection Refused) do các chính sách chặn băng thông từ nhà mạng Việt Nam.</a:t>
            </a:r>
          </a:p>
        </p:txBody>
      </p:sp>
      <p:grpSp>
        <p:nvGrpSpPr>
          <p:cNvPr name="Group 9" id="9"/>
          <p:cNvGrpSpPr/>
          <p:nvPr/>
        </p:nvGrpSpPr>
        <p:grpSpPr>
          <a:xfrm rot="0">
            <a:off x="1028700" y="5317522"/>
            <a:ext cx="6829425" cy="3983160"/>
            <a:chOff x="0" y="0"/>
            <a:chExt cx="9105900" cy="5310880"/>
          </a:xfrm>
        </p:grpSpPr>
        <p:sp>
          <p:nvSpPr>
            <p:cNvPr name="Freeform 10" id="10"/>
            <p:cNvSpPr/>
            <p:nvPr/>
          </p:nvSpPr>
          <p:spPr>
            <a:xfrm flipH="false" flipV="false" rot="0">
              <a:off x="0" y="0"/>
              <a:ext cx="9105900" cy="5310880"/>
            </a:xfrm>
            <a:custGeom>
              <a:avLst/>
              <a:gdLst/>
              <a:ahLst/>
              <a:cxnLst/>
              <a:rect r="r" b="b" t="t" l="l"/>
              <a:pathLst>
                <a:path h="5310880" w="9105900">
                  <a:moveTo>
                    <a:pt x="0" y="570270"/>
                  </a:moveTo>
                  <a:cubicBezTo>
                    <a:pt x="0" y="255276"/>
                    <a:pt x="274701" y="0"/>
                    <a:pt x="613664" y="0"/>
                  </a:cubicBezTo>
                  <a:lnTo>
                    <a:pt x="8492236" y="0"/>
                  </a:lnTo>
                  <a:cubicBezTo>
                    <a:pt x="8831199" y="0"/>
                    <a:pt x="9105900" y="255276"/>
                    <a:pt x="9105900" y="570270"/>
                  </a:cubicBezTo>
                  <a:lnTo>
                    <a:pt x="9105900" y="4740609"/>
                  </a:lnTo>
                  <a:cubicBezTo>
                    <a:pt x="9105900" y="5055603"/>
                    <a:pt x="8831199" y="5310880"/>
                    <a:pt x="8492236" y="5310880"/>
                  </a:cubicBezTo>
                  <a:lnTo>
                    <a:pt x="613664" y="5310880"/>
                  </a:lnTo>
                  <a:cubicBezTo>
                    <a:pt x="274701" y="5310880"/>
                    <a:pt x="0" y="5055603"/>
                    <a:pt x="0" y="4740609"/>
                  </a:cubicBezTo>
                  <a:close/>
                </a:path>
              </a:pathLst>
            </a:custGeom>
            <a:solidFill>
              <a:srgbClr val="FFF7ED"/>
            </a:solidFill>
            <a:ln w="28575" cap="sq">
              <a:solidFill>
                <a:srgbClr val="FF6B2B"/>
              </a:solidFill>
              <a:prstDash val="solid"/>
              <a:miter/>
            </a:ln>
          </p:spPr>
        </p:sp>
      </p:grpSp>
      <p:sp>
        <p:nvSpPr>
          <p:cNvPr name="TextBox 11" id="11"/>
          <p:cNvSpPr txBox="true"/>
          <p:nvPr/>
        </p:nvSpPr>
        <p:spPr>
          <a:xfrm rot="0">
            <a:off x="2393633" y="5814874"/>
            <a:ext cx="4099560" cy="552450"/>
          </a:xfrm>
          <a:prstGeom prst="rect">
            <a:avLst/>
          </a:prstGeom>
        </p:spPr>
        <p:txBody>
          <a:bodyPr anchor="t" rtlCol="false" tIns="0" lIns="0" bIns="0" rIns="0">
            <a:spAutoFit/>
          </a:bodyPr>
          <a:lstStyle/>
          <a:p>
            <a:pPr algn="ctr">
              <a:lnSpc>
                <a:spcPts val="4320"/>
              </a:lnSpc>
            </a:pPr>
            <a:r>
              <a:rPr lang="en-US" sz="3600" b="true">
                <a:solidFill>
                  <a:srgbClr val="0F172A"/>
                </a:solidFill>
                <a:latin typeface="Public Sans Bold"/>
                <a:ea typeface="Public Sans Bold"/>
                <a:cs typeface="Public Sans Bold"/>
                <a:sym typeface="Public Sans Bold"/>
              </a:rPr>
              <a:t>Can thiệp kiến trúc</a:t>
            </a:r>
          </a:p>
        </p:txBody>
      </p:sp>
      <p:sp>
        <p:nvSpPr>
          <p:cNvPr name="TextBox 12" id="12"/>
          <p:cNvSpPr txBox="true"/>
          <p:nvPr/>
        </p:nvSpPr>
        <p:spPr>
          <a:xfrm rot="0">
            <a:off x="1296399" y="6911519"/>
            <a:ext cx="6294028" cy="1831638"/>
          </a:xfrm>
          <a:prstGeom prst="rect">
            <a:avLst/>
          </a:prstGeom>
        </p:spPr>
        <p:txBody>
          <a:bodyPr anchor="t" rtlCol="false" tIns="0" lIns="0" bIns="0" rIns="0">
            <a:spAutoFit/>
          </a:bodyPr>
          <a:lstStyle/>
          <a:p>
            <a:pPr algn="ctr">
              <a:lnSpc>
                <a:spcPts val="3639"/>
              </a:lnSpc>
            </a:pPr>
            <a:r>
              <a:rPr lang="en-US" sz="2799">
                <a:solidFill>
                  <a:srgbClr val="1C1917"/>
                </a:solidFill>
                <a:latin typeface="Public Sans"/>
                <a:ea typeface="Public Sans"/>
                <a:cs typeface="Public Sans"/>
                <a:sym typeface="Public Sans"/>
              </a:rPr>
              <a:t>Nhóm đã linh hoạt cấu hình lại TileLayer, chuyển hướng truy xuất dữ liệu sang máy chủ hình ảnh của Esri ArcGIS (server.arcgisonline.com).</a:t>
            </a:r>
          </a:p>
        </p:txBody>
      </p:sp>
      <p:grpSp>
        <p:nvGrpSpPr>
          <p:cNvPr name="Group 13" id="13"/>
          <p:cNvGrpSpPr/>
          <p:nvPr/>
        </p:nvGrpSpPr>
        <p:grpSpPr>
          <a:xfrm rot="0">
            <a:off x="9625923" y="5317522"/>
            <a:ext cx="6829425" cy="4074236"/>
            <a:chOff x="0" y="0"/>
            <a:chExt cx="9105900" cy="5432314"/>
          </a:xfrm>
        </p:grpSpPr>
        <p:sp>
          <p:nvSpPr>
            <p:cNvPr name="Freeform 14" id="14"/>
            <p:cNvSpPr/>
            <p:nvPr/>
          </p:nvSpPr>
          <p:spPr>
            <a:xfrm flipH="false" flipV="false" rot="0">
              <a:off x="0" y="0"/>
              <a:ext cx="9105900" cy="5432314"/>
            </a:xfrm>
            <a:custGeom>
              <a:avLst/>
              <a:gdLst/>
              <a:ahLst/>
              <a:cxnLst/>
              <a:rect r="r" b="b" t="t" l="l"/>
              <a:pathLst>
                <a:path h="5432314" w="9105900">
                  <a:moveTo>
                    <a:pt x="0" y="583310"/>
                  </a:moveTo>
                  <a:cubicBezTo>
                    <a:pt x="0" y="261113"/>
                    <a:pt x="274701" y="0"/>
                    <a:pt x="613664" y="0"/>
                  </a:cubicBezTo>
                  <a:lnTo>
                    <a:pt x="8492236" y="0"/>
                  </a:lnTo>
                  <a:cubicBezTo>
                    <a:pt x="8831199" y="0"/>
                    <a:pt x="9105900" y="261113"/>
                    <a:pt x="9105900" y="583310"/>
                  </a:cubicBezTo>
                  <a:lnTo>
                    <a:pt x="9105900" y="4849004"/>
                  </a:lnTo>
                  <a:cubicBezTo>
                    <a:pt x="9105900" y="5171201"/>
                    <a:pt x="8831199" y="5432314"/>
                    <a:pt x="8492236" y="5432314"/>
                  </a:cubicBezTo>
                  <a:lnTo>
                    <a:pt x="613664" y="5432314"/>
                  </a:lnTo>
                  <a:cubicBezTo>
                    <a:pt x="274701" y="5432314"/>
                    <a:pt x="0" y="5171201"/>
                    <a:pt x="0" y="4849004"/>
                  </a:cubicBezTo>
                  <a:close/>
                </a:path>
              </a:pathLst>
            </a:custGeom>
            <a:solidFill>
              <a:srgbClr val="FFF7ED"/>
            </a:solidFill>
            <a:ln w="28575" cap="sq">
              <a:solidFill>
                <a:srgbClr val="FF6B2B"/>
              </a:solidFill>
              <a:prstDash val="solid"/>
              <a:miter/>
            </a:ln>
          </p:spPr>
        </p:sp>
      </p:grpSp>
      <p:sp>
        <p:nvSpPr>
          <p:cNvPr name="TextBox 15" id="15"/>
          <p:cNvSpPr txBox="true"/>
          <p:nvPr/>
        </p:nvSpPr>
        <p:spPr>
          <a:xfrm rot="0">
            <a:off x="11149030" y="5814874"/>
            <a:ext cx="3783211" cy="552450"/>
          </a:xfrm>
          <a:prstGeom prst="rect">
            <a:avLst/>
          </a:prstGeom>
        </p:spPr>
        <p:txBody>
          <a:bodyPr anchor="t" rtlCol="false" tIns="0" lIns="0" bIns="0" rIns="0">
            <a:spAutoFit/>
          </a:bodyPr>
          <a:lstStyle/>
          <a:p>
            <a:pPr algn="ctr">
              <a:lnSpc>
                <a:spcPts val="4320"/>
              </a:lnSpc>
            </a:pPr>
            <a:r>
              <a:rPr lang="en-US" sz="3600" b="true">
                <a:solidFill>
                  <a:srgbClr val="0F172A"/>
                </a:solidFill>
                <a:latin typeface="Public Sans Bold"/>
                <a:ea typeface="Public Sans Bold"/>
                <a:cs typeface="Public Sans Bold"/>
                <a:sym typeface="Public Sans Bold"/>
              </a:rPr>
              <a:t>Kết quả đạt được</a:t>
            </a:r>
          </a:p>
        </p:txBody>
      </p:sp>
      <p:sp>
        <p:nvSpPr>
          <p:cNvPr name="TextBox 16" id="16"/>
          <p:cNvSpPr txBox="true"/>
          <p:nvPr/>
        </p:nvSpPr>
        <p:spPr>
          <a:xfrm rot="0">
            <a:off x="9880864" y="6682919"/>
            <a:ext cx="6294028" cy="2288912"/>
          </a:xfrm>
          <a:prstGeom prst="rect">
            <a:avLst/>
          </a:prstGeom>
        </p:spPr>
        <p:txBody>
          <a:bodyPr anchor="t" rtlCol="false" tIns="0" lIns="0" bIns="0" rIns="0">
            <a:spAutoFit/>
          </a:bodyPr>
          <a:lstStyle/>
          <a:p>
            <a:pPr algn="ctr">
              <a:lnSpc>
                <a:spcPts val="3639"/>
              </a:lnSpc>
            </a:pPr>
            <a:r>
              <a:rPr lang="en-US" sz="2799">
                <a:solidFill>
                  <a:srgbClr val="1C1917"/>
                </a:solidFill>
                <a:latin typeface="Public Sans"/>
                <a:ea typeface="Public Sans"/>
                <a:cs typeface="Public Sans"/>
                <a:sym typeface="Public Sans"/>
              </a:rPr>
              <a:t>Giải quyết triệt để tình trạng bản đồ bị load thiếu ảnh (lỗi xám màn hình). Tốc độ phản hồi hình ảnh tăng lên rõ rệt, đảm bảo bản đồ luôn hiển thị hoàn hảo 100% trong mọi điều kiện mạng.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C1917"/>
        </a:solidFill>
      </p:bgPr>
    </p:bg>
    <p:spTree>
      <p:nvGrpSpPr>
        <p:cNvPr id="1" name=""/>
        <p:cNvGrpSpPr/>
        <p:nvPr/>
      </p:nvGrpSpPr>
      <p:grpSpPr>
        <a:xfrm>
          <a:off x="0" y="0"/>
          <a:ext cx="0" cy="0"/>
          <a:chOff x="0" y="0"/>
          <a:chExt cx="0" cy="0"/>
        </a:xfrm>
      </p:grpSpPr>
      <p:grpSp>
        <p:nvGrpSpPr>
          <p:cNvPr name="Group 2" id="2"/>
          <p:cNvGrpSpPr/>
          <p:nvPr/>
        </p:nvGrpSpPr>
        <p:grpSpPr>
          <a:xfrm rot="0">
            <a:off x="8572500" y="2421731"/>
            <a:ext cx="1143000" cy="1143000"/>
            <a:chOff x="0" y="0"/>
            <a:chExt cx="1524000" cy="1524000"/>
          </a:xfrm>
        </p:grpSpPr>
        <p:sp>
          <p:nvSpPr>
            <p:cNvPr name="Freeform 3" id="3" descr="image.png"/>
            <p:cNvSpPr/>
            <p:nvPr/>
          </p:nvSpPr>
          <p:spPr>
            <a:xfrm flipH="false" flipV="false" rot="0">
              <a:off x="0" y="0"/>
              <a:ext cx="1524000" cy="1524000"/>
            </a:xfrm>
            <a:custGeom>
              <a:avLst/>
              <a:gdLst/>
              <a:ahLst/>
              <a:cxnLst/>
              <a:rect r="r" b="b" t="t" l="l"/>
              <a:pathLst>
                <a:path h="1524000" w="1524000">
                  <a:moveTo>
                    <a:pt x="0" y="0"/>
                  </a:moveTo>
                  <a:lnTo>
                    <a:pt x="1524000" y="0"/>
                  </a:lnTo>
                  <a:lnTo>
                    <a:pt x="1524000" y="1524000"/>
                  </a:lnTo>
                  <a:lnTo>
                    <a:pt x="0" y="1524000"/>
                  </a:lnTo>
                  <a:lnTo>
                    <a:pt x="0" y="0"/>
                  </a:lnTo>
                  <a:close/>
                </a:path>
              </a:pathLst>
            </a:custGeom>
            <a:blipFill>
              <a:blip r:embed="rId2"/>
              <a:stretch>
                <a:fillRect l="0" t="-625" r="0" b="-625"/>
              </a:stretch>
            </a:blipFill>
          </p:spPr>
        </p:sp>
      </p:grpSp>
      <p:sp>
        <p:nvSpPr>
          <p:cNvPr name="TextBox 4" id="4"/>
          <p:cNvSpPr txBox="true"/>
          <p:nvPr/>
        </p:nvSpPr>
        <p:spPr>
          <a:xfrm rot="0">
            <a:off x="6201742" y="4021931"/>
            <a:ext cx="5884515" cy="819150"/>
          </a:xfrm>
          <a:prstGeom prst="rect">
            <a:avLst/>
          </a:prstGeom>
        </p:spPr>
        <p:txBody>
          <a:bodyPr anchor="t" rtlCol="false" tIns="0" lIns="0" bIns="0" rIns="0">
            <a:spAutoFit/>
          </a:bodyPr>
          <a:lstStyle/>
          <a:p>
            <a:pPr algn="ctr">
              <a:lnSpc>
                <a:spcPts val="6480"/>
              </a:lnSpc>
            </a:pPr>
            <a:r>
              <a:rPr lang="en-US" sz="5400" b="true">
                <a:solidFill>
                  <a:srgbClr val="FFFFFF"/>
                </a:solidFill>
                <a:latin typeface="Public Sans Bold"/>
                <a:ea typeface="Public Sans Bold"/>
                <a:cs typeface="Public Sans Bold"/>
                <a:sym typeface="Public Sans Bold"/>
              </a:rPr>
              <a:t>Plugin Geolocator</a:t>
            </a:r>
          </a:p>
        </p:txBody>
      </p:sp>
      <p:sp>
        <p:nvSpPr>
          <p:cNvPr name="TextBox 5" id="5"/>
          <p:cNvSpPr txBox="true"/>
          <p:nvPr/>
        </p:nvSpPr>
        <p:spPr>
          <a:xfrm rot="0">
            <a:off x="2893219" y="5212556"/>
            <a:ext cx="12501562" cy="428662"/>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Giao tiếp cấp thấp trực tiếp với phần cứng vệ tinh GPS của thiết bị di động.</a:t>
            </a:r>
          </a:p>
        </p:txBody>
      </p:sp>
      <p:sp>
        <p:nvSpPr>
          <p:cNvPr name="TextBox 6" id="6"/>
          <p:cNvSpPr txBox="true"/>
          <p:nvPr/>
        </p:nvSpPr>
        <p:spPr>
          <a:xfrm rot="0">
            <a:off x="4883572" y="6727031"/>
            <a:ext cx="3977432" cy="695325"/>
          </a:xfrm>
          <a:prstGeom prst="rect">
            <a:avLst/>
          </a:prstGeom>
        </p:spPr>
        <p:txBody>
          <a:bodyPr anchor="t" rtlCol="false" tIns="0" lIns="0" bIns="0" rIns="0">
            <a:spAutoFit/>
          </a:bodyPr>
          <a:lstStyle/>
          <a:p>
            <a:pPr algn="ctr">
              <a:lnSpc>
                <a:spcPts val="5400"/>
              </a:lnSpc>
            </a:pPr>
            <a:r>
              <a:rPr lang="en-US" sz="4500" b="true">
                <a:solidFill>
                  <a:srgbClr val="FF6B2B"/>
                </a:solidFill>
                <a:latin typeface="Public Sans Bold"/>
                <a:ea typeface="Public Sans Bold"/>
                <a:cs typeface="Public Sans Bold"/>
                <a:sym typeface="Public Sans Bold"/>
              </a:rPr>
              <a:t>High Accuracy</a:t>
            </a:r>
          </a:p>
        </p:txBody>
      </p:sp>
      <p:sp>
        <p:nvSpPr>
          <p:cNvPr name="TextBox 7" id="7"/>
          <p:cNvSpPr txBox="true"/>
          <p:nvPr/>
        </p:nvSpPr>
        <p:spPr>
          <a:xfrm rot="0">
            <a:off x="3498266" y="7678354"/>
            <a:ext cx="5184279" cy="428625"/>
          </a:xfrm>
          <a:prstGeom prst="rect">
            <a:avLst/>
          </a:prstGeom>
        </p:spPr>
        <p:txBody>
          <a:bodyPr anchor="t" rtlCol="false" tIns="0" lIns="0" bIns="0" rIns="0">
            <a:spAutoFit/>
          </a:bodyPr>
          <a:lstStyle/>
          <a:p>
            <a:pPr algn="ctr">
              <a:lnSpc>
                <a:spcPts val="3359"/>
              </a:lnSpc>
            </a:pPr>
            <a:r>
              <a:rPr lang="en-US" sz="2799">
                <a:solidFill>
                  <a:srgbClr val="A8A29E"/>
                </a:solidFill>
                <a:latin typeface="Public Sans"/>
                <a:ea typeface="Public Sans"/>
                <a:cs typeface="Public Sans"/>
                <a:sym typeface="Public Sans"/>
              </a:rPr>
              <a:t>Cấu hình độ chính xác cao nhất.</a:t>
            </a:r>
          </a:p>
        </p:txBody>
      </p:sp>
      <p:sp>
        <p:nvSpPr>
          <p:cNvPr name="TextBox 8" id="8"/>
          <p:cNvSpPr txBox="true"/>
          <p:nvPr/>
        </p:nvSpPr>
        <p:spPr>
          <a:xfrm rot="0">
            <a:off x="9422681" y="6727031"/>
            <a:ext cx="4043214" cy="695325"/>
          </a:xfrm>
          <a:prstGeom prst="rect">
            <a:avLst/>
          </a:prstGeom>
        </p:spPr>
        <p:txBody>
          <a:bodyPr anchor="t" rtlCol="false" tIns="0" lIns="0" bIns="0" rIns="0">
            <a:spAutoFit/>
          </a:bodyPr>
          <a:lstStyle/>
          <a:p>
            <a:pPr algn="ctr">
              <a:lnSpc>
                <a:spcPts val="5400"/>
              </a:lnSpc>
            </a:pPr>
            <a:r>
              <a:rPr lang="en-US" sz="4500" b="true">
                <a:solidFill>
                  <a:srgbClr val="FF6B2B"/>
                </a:solidFill>
                <a:latin typeface="Public Sans Bold"/>
                <a:ea typeface="Public Sans Bold"/>
                <a:cs typeface="Public Sans Bold"/>
                <a:sym typeface="Public Sans Bold"/>
              </a:rPr>
              <a:t>ACCESS_FINE</a:t>
            </a:r>
          </a:p>
        </p:txBody>
      </p:sp>
      <p:sp>
        <p:nvSpPr>
          <p:cNvPr name="TextBox 9" id="9"/>
          <p:cNvSpPr txBox="true"/>
          <p:nvPr/>
        </p:nvSpPr>
        <p:spPr>
          <a:xfrm rot="0">
            <a:off x="9457346" y="7632361"/>
            <a:ext cx="5077718" cy="428625"/>
          </a:xfrm>
          <a:prstGeom prst="rect">
            <a:avLst/>
          </a:prstGeom>
        </p:spPr>
        <p:txBody>
          <a:bodyPr anchor="t" rtlCol="false" tIns="0" lIns="0" bIns="0" rIns="0">
            <a:spAutoFit/>
          </a:bodyPr>
          <a:lstStyle/>
          <a:p>
            <a:pPr algn="ctr">
              <a:lnSpc>
                <a:spcPts val="3359"/>
              </a:lnSpc>
            </a:pPr>
            <a:r>
              <a:rPr lang="en-US" sz="2799">
                <a:solidFill>
                  <a:srgbClr val="A8A29E"/>
                </a:solidFill>
                <a:latin typeface="Public Sans"/>
                <a:ea typeface="Public Sans"/>
                <a:cs typeface="Public Sans"/>
                <a:sym typeface="Public Sans"/>
              </a:rPr>
              <a:t>Quyền truy cập cốt lõi Android.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sp>
        <p:nvSpPr>
          <p:cNvPr name="TextBox 2" id="2"/>
          <p:cNvSpPr txBox="true"/>
          <p:nvPr/>
        </p:nvSpPr>
        <p:spPr>
          <a:xfrm rot="0">
            <a:off x="6672895" y="1359482"/>
            <a:ext cx="4942210" cy="428662"/>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QUẢN LÝ DỮ LIỆU CẢM BIẾN</a:t>
            </a:r>
          </a:p>
        </p:txBody>
      </p:sp>
      <p:sp>
        <p:nvSpPr>
          <p:cNvPr name="TextBox 3" id="3"/>
          <p:cNvSpPr txBox="true"/>
          <p:nvPr/>
        </p:nvSpPr>
        <p:spPr>
          <a:xfrm rot="0">
            <a:off x="3790280" y="1883357"/>
            <a:ext cx="10707439"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Khai thác Luồng dữ liệu (Stream)</a:t>
            </a:r>
          </a:p>
        </p:txBody>
      </p:sp>
      <p:grpSp>
        <p:nvGrpSpPr>
          <p:cNvPr name="Group 4" id="4"/>
          <p:cNvGrpSpPr/>
          <p:nvPr/>
        </p:nvGrpSpPr>
        <p:grpSpPr>
          <a:xfrm rot="0">
            <a:off x="3429000" y="4164806"/>
            <a:ext cx="11430000" cy="57150"/>
            <a:chOff x="0" y="0"/>
            <a:chExt cx="15240000" cy="76200"/>
          </a:xfrm>
        </p:grpSpPr>
        <p:sp>
          <p:nvSpPr>
            <p:cNvPr name="Freeform 5" id="5"/>
            <p:cNvSpPr/>
            <p:nvPr/>
          </p:nvSpPr>
          <p:spPr>
            <a:xfrm flipH="false" flipV="false" rot="0">
              <a:off x="0" y="0"/>
              <a:ext cx="15240000" cy="76200"/>
            </a:xfrm>
            <a:custGeom>
              <a:avLst/>
              <a:gdLst/>
              <a:ahLst/>
              <a:cxnLst/>
              <a:rect r="r" b="b" t="t" l="l"/>
              <a:pathLst>
                <a:path h="76200" w="15240000">
                  <a:moveTo>
                    <a:pt x="0" y="0"/>
                  </a:moveTo>
                  <a:lnTo>
                    <a:pt x="15240000" y="0"/>
                  </a:lnTo>
                  <a:lnTo>
                    <a:pt x="15240000" y="76200"/>
                  </a:lnTo>
                  <a:lnTo>
                    <a:pt x="0" y="76200"/>
                  </a:lnTo>
                  <a:close/>
                </a:path>
              </a:pathLst>
            </a:custGeom>
            <a:solidFill>
              <a:srgbClr val="E2E8F0"/>
            </a:solidFill>
          </p:spPr>
        </p:sp>
      </p:grpSp>
      <p:grpSp>
        <p:nvGrpSpPr>
          <p:cNvPr name="Group 6" id="6"/>
          <p:cNvGrpSpPr/>
          <p:nvPr/>
        </p:nvGrpSpPr>
        <p:grpSpPr>
          <a:xfrm rot="0">
            <a:off x="3829050" y="3707606"/>
            <a:ext cx="914400" cy="914400"/>
            <a:chOff x="0" y="0"/>
            <a:chExt cx="1219200" cy="1219200"/>
          </a:xfrm>
        </p:grpSpPr>
        <p:sp>
          <p:nvSpPr>
            <p:cNvPr name="Freeform 7" id="7"/>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1C1917"/>
            </a:solidFill>
          </p:spPr>
        </p:sp>
      </p:grpSp>
      <p:grpSp>
        <p:nvGrpSpPr>
          <p:cNvPr name="Group 8" id="8"/>
          <p:cNvGrpSpPr/>
          <p:nvPr/>
        </p:nvGrpSpPr>
        <p:grpSpPr>
          <a:xfrm rot="0">
            <a:off x="8686800" y="3707606"/>
            <a:ext cx="914400" cy="914400"/>
            <a:chOff x="0" y="0"/>
            <a:chExt cx="1219200" cy="1219200"/>
          </a:xfrm>
        </p:grpSpPr>
        <p:sp>
          <p:nvSpPr>
            <p:cNvPr name="Freeform 9" id="9"/>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F6B2B"/>
            </a:solidFill>
          </p:spPr>
        </p:sp>
      </p:grpSp>
      <p:grpSp>
        <p:nvGrpSpPr>
          <p:cNvPr name="Group 10" id="10"/>
          <p:cNvGrpSpPr/>
          <p:nvPr/>
        </p:nvGrpSpPr>
        <p:grpSpPr>
          <a:xfrm rot="0">
            <a:off x="13544550" y="3707606"/>
            <a:ext cx="914400" cy="914400"/>
            <a:chOff x="0" y="0"/>
            <a:chExt cx="1219200" cy="1219200"/>
          </a:xfrm>
        </p:grpSpPr>
        <p:sp>
          <p:nvSpPr>
            <p:cNvPr name="Freeform 11" id="11"/>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1C1917"/>
            </a:solidFill>
          </p:spPr>
        </p:sp>
      </p:grpSp>
      <p:grpSp>
        <p:nvGrpSpPr>
          <p:cNvPr name="Group 12" id="12"/>
          <p:cNvGrpSpPr/>
          <p:nvPr/>
        </p:nvGrpSpPr>
        <p:grpSpPr>
          <a:xfrm rot="0">
            <a:off x="3614738" y="3707606"/>
            <a:ext cx="1343025" cy="914400"/>
            <a:chOff x="0" y="0"/>
            <a:chExt cx="1790700" cy="1219200"/>
          </a:xfrm>
        </p:grpSpPr>
        <p:sp>
          <p:nvSpPr>
            <p:cNvPr name="Freeform 13" id="13"/>
            <p:cNvSpPr/>
            <p:nvPr/>
          </p:nvSpPr>
          <p:spPr>
            <a:xfrm flipH="false" flipV="false" rot="0">
              <a:off x="0" y="0"/>
              <a:ext cx="1790700" cy="1219200"/>
            </a:xfrm>
            <a:custGeom>
              <a:avLst/>
              <a:gdLst/>
              <a:ahLst/>
              <a:cxnLst/>
              <a:rect r="r" b="b" t="t" l="l"/>
              <a:pathLst>
                <a:path h="1219200" w="1790700">
                  <a:moveTo>
                    <a:pt x="0" y="0"/>
                  </a:moveTo>
                  <a:lnTo>
                    <a:pt x="1790700" y="0"/>
                  </a:lnTo>
                  <a:lnTo>
                    <a:pt x="1790700" y="1219200"/>
                  </a:lnTo>
                  <a:lnTo>
                    <a:pt x="0" y="1219200"/>
                  </a:lnTo>
                  <a:close/>
                </a:path>
              </a:pathLst>
            </a:custGeom>
            <a:blipFill>
              <a:blip r:embed="rId2">
                <a:alphaModFix amt="0"/>
              </a:blip>
              <a:stretch>
                <a:fillRect l="-37355" t="0" r="-37355" b="0"/>
              </a:stretch>
            </a:blipFill>
          </p:spPr>
        </p:sp>
        <p:sp>
          <p:nvSpPr>
            <p:cNvPr name="TextBox 14" id="14"/>
            <p:cNvSpPr txBox="true"/>
            <p:nvPr/>
          </p:nvSpPr>
          <p:spPr>
            <a:xfrm>
              <a:off x="0" y="-9525"/>
              <a:ext cx="1790700" cy="1228725"/>
            </a:xfrm>
            <a:prstGeom prst="rect">
              <a:avLst/>
            </a:prstGeom>
          </p:spPr>
          <p:txBody>
            <a:bodyPr anchor="ctr" rtlCol="false" tIns="0" lIns="0" bIns="0" rIns="0"/>
            <a:lstStyle/>
            <a:p>
              <a:pPr algn="ctr">
                <a:lnSpc>
                  <a:spcPts val="3240"/>
                </a:lnSpc>
              </a:pPr>
              <a:r>
                <a:rPr lang="en-US" sz="2700">
                  <a:solidFill>
                    <a:srgbClr val="FFFFFF"/>
                  </a:solidFill>
                  <a:latin typeface="Public Sans"/>
                  <a:ea typeface="Public Sans"/>
                  <a:cs typeface="Public Sans"/>
                  <a:sym typeface="Public Sans"/>
                </a:rPr>
                <a:t>1</a:t>
              </a:r>
            </a:p>
          </p:txBody>
        </p:sp>
      </p:grpSp>
      <p:sp>
        <p:nvSpPr>
          <p:cNvPr name="TextBox 15" id="15"/>
          <p:cNvSpPr txBox="true"/>
          <p:nvPr/>
        </p:nvSpPr>
        <p:spPr>
          <a:xfrm rot="0">
            <a:off x="3065780" y="4841081"/>
            <a:ext cx="2440930" cy="428625"/>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Lắng nghe API</a:t>
            </a:r>
          </a:p>
        </p:txBody>
      </p:sp>
      <p:sp>
        <p:nvSpPr>
          <p:cNvPr name="TextBox 16" id="16"/>
          <p:cNvSpPr txBox="true"/>
          <p:nvPr/>
        </p:nvSpPr>
        <p:spPr>
          <a:xfrm rot="0">
            <a:off x="2321719" y="5731669"/>
            <a:ext cx="3929062"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Tự động phát luồng khi có dịch chuyển.</a:t>
            </a:r>
          </a:p>
        </p:txBody>
      </p:sp>
      <p:grpSp>
        <p:nvGrpSpPr>
          <p:cNvPr name="Group 17" id="17"/>
          <p:cNvGrpSpPr/>
          <p:nvPr/>
        </p:nvGrpSpPr>
        <p:grpSpPr>
          <a:xfrm rot="0">
            <a:off x="8472488" y="3707606"/>
            <a:ext cx="1343025" cy="914400"/>
            <a:chOff x="0" y="0"/>
            <a:chExt cx="1790700" cy="1219200"/>
          </a:xfrm>
        </p:grpSpPr>
        <p:sp>
          <p:nvSpPr>
            <p:cNvPr name="Freeform 18" id="18"/>
            <p:cNvSpPr/>
            <p:nvPr/>
          </p:nvSpPr>
          <p:spPr>
            <a:xfrm flipH="false" flipV="false" rot="0">
              <a:off x="0" y="0"/>
              <a:ext cx="1790700" cy="1219200"/>
            </a:xfrm>
            <a:custGeom>
              <a:avLst/>
              <a:gdLst/>
              <a:ahLst/>
              <a:cxnLst/>
              <a:rect r="r" b="b" t="t" l="l"/>
              <a:pathLst>
                <a:path h="1219200" w="1790700">
                  <a:moveTo>
                    <a:pt x="0" y="0"/>
                  </a:moveTo>
                  <a:lnTo>
                    <a:pt x="1790700" y="0"/>
                  </a:lnTo>
                  <a:lnTo>
                    <a:pt x="1790700" y="1219200"/>
                  </a:lnTo>
                  <a:lnTo>
                    <a:pt x="0" y="1219200"/>
                  </a:lnTo>
                  <a:close/>
                </a:path>
              </a:pathLst>
            </a:custGeom>
            <a:blipFill>
              <a:blip r:embed="rId2">
                <a:alphaModFix amt="0"/>
              </a:blip>
              <a:stretch>
                <a:fillRect l="-37355" t="0" r="-37355" b="0"/>
              </a:stretch>
            </a:blipFill>
          </p:spPr>
        </p:sp>
        <p:sp>
          <p:nvSpPr>
            <p:cNvPr name="TextBox 19" id="19"/>
            <p:cNvSpPr txBox="true"/>
            <p:nvPr/>
          </p:nvSpPr>
          <p:spPr>
            <a:xfrm>
              <a:off x="0" y="-9525"/>
              <a:ext cx="1790700" cy="1228725"/>
            </a:xfrm>
            <a:prstGeom prst="rect">
              <a:avLst/>
            </a:prstGeom>
          </p:spPr>
          <p:txBody>
            <a:bodyPr anchor="ctr" rtlCol="false" tIns="0" lIns="0" bIns="0" rIns="0"/>
            <a:lstStyle/>
            <a:p>
              <a:pPr algn="ctr">
                <a:lnSpc>
                  <a:spcPts val="3240"/>
                </a:lnSpc>
              </a:pPr>
              <a:r>
                <a:rPr lang="en-US" sz="2700">
                  <a:solidFill>
                    <a:srgbClr val="F8FAFC"/>
                  </a:solidFill>
                  <a:latin typeface="Public Sans"/>
                  <a:ea typeface="Public Sans"/>
                  <a:cs typeface="Public Sans"/>
                  <a:sym typeface="Public Sans"/>
                </a:rPr>
                <a:t>2</a:t>
              </a:r>
            </a:p>
          </p:txBody>
        </p:sp>
      </p:grpSp>
      <p:sp>
        <p:nvSpPr>
          <p:cNvPr name="TextBox 20" id="20"/>
          <p:cNvSpPr txBox="true"/>
          <p:nvPr/>
        </p:nvSpPr>
        <p:spPr>
          <a:xfrm rot="0">
            <a:off x="7795612" y="4841081"/>
            <a:ext cx="2696766" cy="428625"/>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Bắt ngưỡng Lọc</a:t>
            </a:r>
          </a:p>
        </p:txBody>
      </p:sp>
      <p:sp>
        <p:nvSpPr>
          <p:cNvPr name="TextBox 21" id="21"/>
          <p:cNvSpPr txBox="true"/>
          <p:nvPr/>
        </p:nvSpPr>
        <p:spPr>
          <a:xfrm rot="0">
            <a:off x="7179469" y="5731669"/>
            <a:ext cx="3929062" cy="12668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Chỉ phát khi dịch chuyển quá 5 mét (chống nhiễu).</a:t>
            </a:r>
          </a:p>
        </p:txBody>
      </p:sp>
      <p:grpSp>
        <p:nvGrpSpPr>
          <p:cNvPr name="Group 22" id="22"/>
          <p:cNvGrpSpPr/>
          <p:nvPr/>
        </p:nvGrpSpPr>
        <p:grpSpPr>
          <a:xfrm rot="0">
            <a:off x="13330238" y="3707606"/>
            <a:ext cx="1343025" cy="914400"/>
            <a:chOff x="0" y="0"/>
            <a:chExt cx="1790700" cy="1219200"/>
          </a:xfrm>
        </p:grpSpPr>
        <p:sp>
          <p:nvSpPr>
            <p:cNvPr name="Freeform 23" id="23"/>
            <p:cNvSpPr/>
            <p:nvPr/>
          </p:nvSpPr>
          <p:spPr>
            <a:xfrm flipH="false" flipV="false" rot="0">
              <a:off x="0" y="0"/>
              <a:ext cx="1790700" cy="1219200"/>
            </a:xfrm>
            <a:custGeom>
              <a:avLst/>
              <a:gdLst/>
              <a:ahLst/>
              <a:cxnLst/>
              <a:rect r="r" b="b" t="t" l="l"/>
              <a:pathLst>
                <a:path h="1219200" w="1790700">
                  <a:moveTo>
                    <a:pt x="0" y="0"/>
                  </a:moveTo>
                  <a:lnTo>
                    <a:pt x="1790700" y="0"/>
                  </a:lnTo>
                  <a:lnTo>
                    <a:pt x="1790700" y="1219200"/>
                  </a:lnTo>
                  <a:lnTo>
                    <a:pt x="0" y="1219200"/>
                  </a:lnTo>
                  <a:close/>
                </a:path>
              </a:pathLst>
            </a:custGeom>
            <a:blipFill>
              <a:blip r:embed="rId2">
                <a:alphaModFix amt="0"/>
              </a:blip>
              <a:stretch>
                <a:fillRect l="-37355" t="0" r="-37355" b="0"/>
              </a:stretch>
            </a:blipFill>
          </p:spPr>
        </p:sp>
        <p:sp>
          <p:nvSpPr>
            <p:cNvPr name="TextBox 24" id="24"/>
            <p:cNvSpPr txBox="true"/>
            <p:nvPr/>
          </p:nvSpPr>
          <p:spPr>
            <a:xfrm>
              <a:off x="0" y="-9525"/>
              <a:ext cx="1790700" cy="1228725"/>
            </a:xfrm>
            <a:prstGeom prst="rect">
              <a:avLst/>
            </a:prstGeom>
          </p:spPr>
          <p:txBody>
            <a:bodyPr anchor="ctr" rtlCol="false" tIns="0" lIns="0" bIns="0" rIns="0"/>
            <a:lstStyle/>
            <a:p>
              <a:pPr algn="ctr">
                <a:lnSpc>
                  <a:spcPts val="3240"/>
                </a:lnSpc>
              </a:pPr>
              <a:r>
                <a:rPr lang="en-US" sz="2700">
                  <a:solidFill>
                    <a:srgbClr val="FFFFFF"/>
                  </a:solidFill>
                  <a:latin typeface="Public Sans"/>
                  <a:ea typeface="Public Sans"/>
                  <a:cs typeface="Public Sans"/>
                  <a:sym typeface="Public Sans"/>
                </a:rPr>
                <a:t>3</a:t>
              </a:r>
            </a:p>
          </p:txBody>
        </p:sp>
      </p:grpSp>
      <p:sp>
        <p:nvSpPr>
          <p:cNvPr name="TextBox 25" id="25"/>
          <p:cNvSpPr txBox="true"/>
          <p:nvPr/>
        </p:nvSpPr>
        <p:spPr>
          <a:xfrm rot="0">
            <a:off x="12989788" y="4841081"/>
            <a:ext cx="2023914" cy="428625"/>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Xuất Tọa độ</a:t>
            </a:r>
          </a:p>
        </p:txBody>
      </p:sp>
      <p:sp>
        <p:nvSpPr>
          <p:cNvPr name="TextBox 26" id="26"/>
          <p:cNvSpPr txBox="true"/>
          <p:nvPr/>
        </p:nvSpPr>
        <p:spPr>
          <a:xfrm rot="0">
            <a:off x="12037214" y="5731669"/>
            <a:ext cx="3929062"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Trả về mảng chính xác Vĩ độ và Kinh độ.</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11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3501771" y="2416488"/>
            <a:ext cx="11430000" cy="2455435"/>
            <a:chOff x="0" y="0"/>
            <a:chExt cx="15240000" cy="3273913"/>
          </a:xfrm>
        </p:grpSpPr>
        <p:sp>
          <p:nvSpPr>
            <p:cNvPr name="Freeform 5" id="5"/>
            <p:cNvSpPr/>
            <p:nvPr/>
          </p:nvSpPr>
          <p:spPr>
            <a:xfrm flipH="false" flipV="false" rot="0">
              <a:off x="0" y="0"/>
              <a:ext cx="15240000" cy="3273926"/>
            </a:xfrm>
            <a:custGeom>
              <a:avLst/>
              <a:gdLst/>
              <a:ahLst/>
              <a:cxnLst/>
              <a:rect r="r" b="b" t="t" l="l"/>
              <a:pathLst>
                <a:path h="3273926" w="15240000">
                  <a:moveTo>
                    <a:pt x="0" y="391852"/>
                  </a:moveTo>
                  <a:cubicBezTo>
                    <a:pt x="0" y="175435"/>
                    <a:pt x="272923" y="0"/>
                    <a:pt x="609600" y="0"/>
                  </a:cubicBezTo>
                  <a:lnTo>
                    <a:pt x="14630400" y="0"/>
                  </a:lnTo>
                  <a:cubicBezTo>
                    <a:pt x="14967077" y="0"/>
                    <a:pt x="15240000" y="175435"/>
                    <a:pt x="15240000" y="391852"/>
                  </a:cubicBezTo>
                  <a:lnTo>
                    <a:pt x="15240000" y="2882070"/>
                  </a:lnTo>
                  <a:cubicBezTo>
                    <a:pt x="15240000" y="3098486"/>
                    <a:pt x="14967077" y="3273926"/>
                    <a:pt x="14630400" y="3273926"/>
                  </a:cubicBezTo>
                  <a:lnTo>
                    <a:pt x="609600" y="3273926"/>
                  </a:lnTo>
                  <a:cubicBezTo>
                    <a:pt x="272923" y="3273926"/>
                    <a:pt x="0" y="3098486"/>
                    <a:pt x="0" y="2882070"/>
                  </a:cubicBezTo>
                  <a:close/>
                </a:path>
              </a:pathLst>
            </a:custGeom>
            <a:solidFill>
              <a:srgbClr val="FFFFFF"/>
            </a:solidFill>
          </p:spPr>
        </p:sp>
      </p:grpSp>
      <p:grpSp>
        <p:nvGrpSpPr>
          <p:cNvPr name="Group 6" id="6"/>
          <p:cNvGrpSpPr/>
          <p:nvPr/>
        </p:nvGrpSpPr>
        <p:grpSpPr>
          <a:xfrm rot="0">
            <a:off x="3501771" y="3089390"/>
            <a:ext cx="11430000" cy="1495605"/>
            <a:chOff x="0" y="0"/>
            <a:chExt cx="15240000" cy="1994141"/>
          </a:xfrm>
        </p:grpSpPr>
        <p:sp>
          <p:nvSpPr>
            <p:cNvPr name="Freeform 7" id="7"/>
            <p:cNvSpPr/>
            <p:nvPr/>
          </p:nvSpPr>
          <p:spPr>
            <a:xfrm flipH="false" flipV="false" rot="0">
              <a:off x="0" y="0"/>
              <a:ext cx="15239988" cy="1994153"/>
            </a:xfrm>
            <a:custGeom>
              <a:avLst/>
              <a:gdLst/>
              <a:ahLst/>
              <a:cxnLst/>
              <a:rect r="r" b="b" t="t" l="l"/>
              <a:pathLst>
                <a:path h="1994153" w="15239988">
                  <a:moveTo>
                    <a:pt x="0" y="0"/>
                  </a:moveTo>
                  <a:lnTo>
                    <a:pt x="15239988" y="0"/>
                  </a:lnTo>
                  <a:lnTo>
                    <a:pt x="15239988" y="1994153"/>
                  </a:lnTo>
                  <a:lnTo>
                    <a:pt x="0" y="1994153"/>
                  </a:lnTo>
                  <a:lnTo>
                    <a:pt x="0" y="0"/>
                  </a:lnTo>
                  <a:close/>
                </a:path>
              </a:pathLst>
            </a:custGeom>
            <a:blipFill>
              <a:blip r:embed="rId3"/>
              <a:stretch>
                <a:fillRect l="0" t="-2323" r="0" b="-2323"/>
              </a:stretch>
            </a:blipFill>
          </p:spPr>
        </p:sp>
      </p:grpSp>
      <p:sp>
        <p:nvSpPr>
          <p:cNvPr name="TextBox 8" id="8"/>
          <p:cNvSpPr txBox="true"/>
          <p:nvPr/>
        </p:nvSpPr>
        <p:spPr>
          <a:xfrm rot="0">
            <a:off x="7655288" y="685800"/>
            <a:ext cx="3222501" cy="428662"/>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GIẢI PHÁP BƯỚC 1</a:t>
            </a:r>
          </a:p>
        </p:txBody>
      </p:sp>
      <p:sp>
        <p:nvSpPr>
          <p:cNvPr name="TextBox 9" id="9"/>
          <p:cNvSpPr txBox="true"/>
          <p:nvPr/>
        </p:nvSpPr>
        <p:spPr>
          <a:xfrm rot="0">
            <a:off x="3491433" y="1385592"/>
            <a:ext cx="11305133"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Lọc thô bằng Thuật toán Haversine</a:t>
            </a:r>
          </a:p>
        </p:txBody>
      </p:sp>
      <p:sp>
        <p:nvSpPr>
          <p:cNvPr name="TextBox 10" id="10"/>
          <p:cNvSpPr txBox="true"/>
          <p:nvPr/>
        </p:nvSpPr>
        <p:spPr>
          <a:xfrm rot="0">
            <a:off x="6956861" y="2547642"/>
            <a:ext cx="4374059"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Tính khoảng cách mặt cầu</a:t>
            </a:r>
          </a:p>
        </p:txBody>
      </p:sp>
      <p:sp>
        <p:nvSpPr>
          <p:cNvPr name="TextBox 11" id="11"/>
          <p:cNvSpPr txBox="true"/>
          <p:nvPr/>
        </p:nvSpPr>
        <p:spPr>
          <a:xfrm rot="0">
            <a:off x="2089983" y="8796414"/>
            <a:ext cx="14146134" cy="512786"/>
          </a:xfrm>
          <a:prstGeom prst="rect">
            <a:avLst/>
          </a:prstGeom>
        </p:spPr>
        <p:txBody>
          <a:bodyPr anchor="t" rtlCol="false" tIns="0" lIns="0" bIns="0" rIns="0">
            <a:spAutoFit/>
          </a:bodyPr>
          <a:lstStyle/>
          <a:p>
            <a:pPr algn="ctr">
              <a:lnSpc>
                <a:spcPts val="3985"/>
              </a:lnSpc>
            </a:pPr>
            <a:r>
              <a:rPr lang="en-US" sz="3321">
                <a:solidFill>
                  <a:srgbClr val="57534E"/>
                </a:solidFill>
                <a:latin typeface="Public Sans"/>
                <a:ea typeface="Public Sans"/>
                <a:cs typeface="Public Sans"/>
                <a:sym typeface="Public Sans"/>
              </a:rPr>
              <a:t>Chạy hoàn toàn bằng toán học thuần túy trực tiếp trên RAM/CPU Server.</a:t>
            </a:r>
          </a:p>
        </p:txBody>
      </p:sp>
      <p:sp>
        <p:nvSpPr>
          <p:cNvPr name="TextBox 12" id="12"/>
          <p:cNvSpPr txBox="true"/>
          <p:nvPr/>
        </p:nvSpPr>
        <p:spPr>
          <a:xfrm rot="0">
            <a:off x="3501771" y="5030531"/>
            <a:ext cx="9559017" cy="682879"/>
          </a:xfrm>
          <a:prstGeom prst="rect">
            <a:avLst/>
          </a:prstGeom>
        </p:spPr>
        <p:txBody>
          <a:bodyPr anchor="t" rtlCol="false" tIns="0" lIns="0" bIns="0" rIns="0">
            <a:spAutoFit/>
          </a:bodyPr>
          <a:lstStyle/>
          <a:p>
            <a:pPr algn="l">
              <a:lnSpc>
                <a:spcPts val="5888"/>
              </a:lnSpc>
            </a:pPr>
            <a:r>
              <a:rPr lang="en-US" sz="3200" spc="137">
                <a:solidFill>
                  <a:srgbClr val="57534E"/>
                </a:solidFill>
                <a:latin typeface="Public Sans"/>
                <a:ea typeface="Public Sans"/>
                <a:cs typeface="Public Sans"/>
                <a:sym typeface="Public Sans"/>
              </a:rPr>
              <a:t>ϕ1</a:t>
            </a:r>
            <a:r>
              <a:rPr lang="en-US" sz="3200" spc="137">
                <a:solidFill>
                  <a:srgbClr val="57534E"/>
                </a:solidFill>
                <a:latin typeface="Public Sans"/>
                <a:ea typeface="Public Sans"/>
                <a:cs typeface="Public Sans"/>
                <a:sym typeface="Public Sans"/>
              </a:rPr>
              <a:t>​,ϕ</a:t>
            </a:r>
            <a:r>
              <a:rPr lang="en-US" sz="3200" spc="137">
                <a:solidFill>
                  <a:srgbClr val="57534E"/>
                </a:solidFill>
                <a:latin typeface="Public Sans"/>
                <a:ea typeface="Public Sans"/>
                <a:cs typeface="Public Sans"/>
                <a:sym typeface="Public Sans"/>
              </a:rPr>
              <a:t>2</a:t>
            </a:r>
            <a:r>
              <a:rPr lang="en-US" sz="3200" spc="137">
                <a:solidFill>
                  <a:srgbClr val="57534E"/>
                </a:solidFill>
                <a:latin typeface="Public Sans"/>
                <a:ea typeface="Public Sans"/>
                <a:cs typeface="Public Sans"/>
                <a:sym typeface="Public Sans"/>
              </a:rPr>
              <a:t>​: Vĩ độ của</a:t>
            </a:r>
            <a:r>
              <a:rPr lang="en-US" sz="3200" spc="137">
                <a:solidFill>
                  <a:srgbClr val="57534E"/>
                </a:solidFill>
                <a:latin typeface="Public Sans"/>
                <a:ea typeface="Public Sans"/>
                <a:cs typeface="Public Sans"/>
                <a:sym typeface="Public Sans"/>
              </a:rPr>
              <a:t> hai điểm (tính bằng radian).</a:t>
            </a:r>
          </a:p>
        </p:txBody>
      </p:sp>
      <p:sp>
        <p:nvSpPr>
          <p:cNvPr name="TextBox 13" id="13"/>
          <p:cNvSpPr txBox="true"/>
          <p:nvPr/>
        </p:nvSpPr>
        <p:spPr>
          <a:xfrm rot="0">
            <a:off x="3501771" y="6056310"/>
            <a:ext cx="6942773" cy="495300"/>
          </a:xfrm>
          <a:prstGeom prst="rect">
            <a:avLst/>
          </a:prstGeom>
        </p:spPr>
        <p:txBody>
          <a:bodyPr anchor="t" rtlCol="false" tIns="0" lIns="0" bIns="0" rIns="0">
            <a:spAutoFit/>
          </a:bodyPr>
          <a:lstStyle/>
          <a:p>
            <a:pPr algn="ctr">
              <a:lnSpc>
                <a:spcPts val="3840"/>
              </a:lnSpc>
              <a:spcBef>
                <a:spcPct val="0"/>
              </a:spcBef>
            </a:pPr>
            <a:r>
              <a:rPr lang="en-US" sz="3200">
                <a:solidFill>
                  <a:srgbClr val="57534E"/>
                </a:solidFill>
                <a:latin typeface="Public Sans"/>
                <a:ea typeface="Public Sans"/>
                <a:cs typeface="Public Sans"/>
                <a:sym typeface="Public Sans"/>
              </a:rPr>
              <a:t>Δϕ,Δλ: Độ chênh lệch vĩ độ và kinh độ.</a:t>
            </a:r>
          </a:p>
        </p:txBody>
      </p:sp>
      <p:sp>
        <p:nvSpPr>
          <p:cNvPr name="TextBox 14" id="14"/>
          <p:cNvSpPr txBox="true"/>
          <p:nvPr/>
        </p:nvSpPr>
        <p:spPr>
          <a:xfrm rot="0">
            <a:off x="3501771" y="6894510"/>
            <a:ext cx="9982081" cy="495300"/>
          </a:xfrm>
          <a:prstGeom prst="rect">
            <a:avLst/>
          </a:prstGeom>
        </p:spPr>
        <p:txBody>
          <a:bodyPr anchor="t" rtlCol="false" tIns="0" lIns="0" bIns="0" rIns="0">
            <a:spAutoFit/>
          </a:bodyPr>
          <a:lstStyle/>
          <a:p>
            <a:pPr algn="ctr">
              <a:lnSpc>
                <a:spcPts val="3840"/>
              </a:lnSpc>
              <a:spcBef>
                <a:spcPct val="0"/>
              </a:spcBef>
            </a:pPr>
            <a:r>
              <a:rPr lang="en-US" sz="3200">
                <a:solidFill>
                  <a:srgbClr val="57534E"/>
                </a:solidFill>
                <a:latin typeface="Public Sans"/>
                <a:ea typeface="Public Sans"/>
                <a:cs typeface="Public Sans"/>
                <a:sym typeface="Public Sans"/>
              </a:rPr>
              <a:t>r: Bán kính trung bình của Trái Đất (khoảng 6,371 km).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143000" y="3918305"/>
            <a:ext cx="5029200" cy="5832987"/>
            <a:chOff x="0" y="0"/>
            <a:chExt cx="6705600" cy="7777316"/>
          </a:xfrm>
        </p:grpSpPr>
        <p:sp>
          <p:nvSpPr>
            <p:cNvPr name="Freeform 5" id="5"/>
            <p:cNvSpPr/>
            <p:nvPr/>
          </p:nvSpPr>
          <p:spPr>
            <a:xfrm flipH="false" flipV="false" rot="0">
              <a:off x="0" y="0"/>
              <a:ext cx="6705600" cy="7777316"/>
            </a:xfrm>
            <a:custGeom>
              <a:avLst/>
              <a:gdLst/>
              <a:ahLst/>
              <a:cxnLst/>
              <a:rect r="r" b="b" t="t" l="l"/>
              <a:pathLst>
                <a:path h="7777316" w="6705600">
                  <a:moveTo>
                    <a:pt x="0" y="972164"/>
                  </a:moveTo>
                  <a:cubicBezTo>
                    <a:pt x="0" y="435246"/>
                    <a:pt x="272923" y="0"/>
                    <a:pt x="609600" y="0"/>
                  </a:cubicBezTo>
                  <a:lnTo>
                    <a:pt x="6096000" y="0"/>
                  </a:lnTo>
                  <a:cubicBezTo>
                    <a:pt x="6432677" y="0"/>
                    <a:pt x="6705600" y="435246"/>
                    <a:pt x="6705600" y="972164"/>
                  </a:cubicBezTo>
                  <a:lnTo>
                    <a:pt x="6705600" y="6805151"/>
                  </a:lnTo>
                  <a:cubicBezTo>
                    <a:pt x="6705600" y="7342070"/>
                    <a:pt x="6432677" y="7777316"/>
                    <a:pt x="6096000" y="7777316"/>
                  </a:cubicBezTo>
                  <a:lnTo>
                    <a:pt x="609600" y="7777316"/>
                  </a:lnTo>
                  <a:cubicBezTo>
                    <a:pt x="272923" y="7777316"/>
                    <a:pt x="0" y="7342070"/>
                    <a:pt x="0" y="6805151"/>
                  </a:cubicBezTo>
                  <a:close/>
                </a:path>
              </a:pathLst>
            </a:custGeom>
            <a:solidFill>
              <a:srgbClr val="FFFFFF"/>
            </a:solidFill>
          </p:spPr>
        </p:sp>
      </p:grpSp>
      <p:grpSp>
        <p:nvGrpSpPr>
          <p:cNvPr name="Group 6" id="6"/>
          <p:cNvGrpSpPr/>
          <p:nvPr/>
        </p:nvGrpSpPr>
        <p:grpSpPr>
          <a:xfrm rot="0">
            <a:off x="6686550" y="4045661"/>
            <a:ext cx="5029200" cy="5705632"/>
            <a:chOff x="0" y="0"/>
            <a:chExt cx="6705600" cy="7607509"/>
          </a:xfrm>
        </p:grpSpPr>
        <p:sp>
          <p:nvSpPr>
            <p:cNvPr name="Freeform 7" id="7"/>
            <p:cNvSpPr/>
            <p:nvPr/>
          </p:nvSpPr>
          <p:spPr>
            <a:xfrm flipH="false" flipV="false" rot="0">
              <a:off x="0" y="0"/>
              <a:ext cx="6705600" cy="7607509"/>
            </a:xfrm>
            <a:custGeom>
              <a:avLst/>
              <a:gdLst/>
              <a:ahLst/>
              <a:cxnLst/>
              <a:rect r="r" b="b" t="t" l="l"/>
              <a:pathLst>
                <a:path h="7607509" w="6705600">
                  <a:moveTo>
                    <a:pt x="0" y="950939"/>
                  </a:moveTo>
                  <a:cubicBezTo>
                    <a:pt x="0" y="425743"/>
                    <a:pt x="272923" y="0"/>
                    <a:pt x="609600" y="0"/>
                  </a:cubicBezTo>
                  <a:lnTo>
                    <a:pt x="6096000" y="0"/>
                  </a:lnTo>
                  <a:cubicBezTo>
                    <a:pt x="6432677" y="0"/>
                    <a:pt x="6705600" y="425743"/>
                    <a:pt x="6705600" y="950939"/>
                  </a:cubicBezTo>
                  <a:lnTo>
                    <a:pt x="6705600" y="6656570"/>
                  </a:lnTo>
                  <a:cubicBezTo>
                    <a:pt x="6705600" y="7181766"/>
                    <a:pt x="6432677" y="7607509"/>
                    <a:pt x="6096000" y="7607509"/>
                  </a:cubicBezTo>
                  <a:lnTo>
                    <a:pt x="609600" y="7607509"/>
                  </a:lnTo>
                  <a:cubicBezTo>
                    <a:pt x="272923" y="7607509"/>
                    <a:pt x="0" y="7181766"/>
                    <a:pt x="0" y="6656570"/>
                  </a:cubicBezTo>
                  <a:close/>
                </a:path>
              </a:pathLst>
            </a:custGeom>
            <a:solidFill>
              <a:srgbClr val="FFFFFF"/>
            </a:solidFill>
          </p:spPr>
        </p:sp>
      </p:grpSp>
      <p:grpSp>
        <p:nvGrpSpPr>
          <p:cNvPr name="Group 8" id="8"/>
          <p:cNvGrpSpPr/>
          <p:nvPr/>
        </p:nvGrpSpPr>
        <p:grpSpPr>
          <a:xfrm rot="0">
            <a:off x="12058650" y="4045661"/>
            <a:ext cx="5029200" cy="5705632"/>
            <a:chOff x="0" y="0"/>
            <a:chExt cx="6705600" cy="7607509"/>
          </a:xfrm>
        </p:grpSpPr>
        <p:sp>
          <p:nvSpPr>
            <p:cNvPr name="Freeform 9" id="9"/>
            <p:cNvSpPr/>
            <p:nvPr/>
          </p:nvSpPr>
          <p:spPr>
            <a:xfrm flipH="false" flipV="false" rot="0">
              <a:off x="0" y="0"/>
              <a:ext cx="6705600" cy="7607509"/>
            </a:xfrm>
            <a:custGeom>
              <a:avLst/>
              <a:gdLst/>
              <a:ahLst/>
              <a:cxnLst/>
              <a:rect r="r" b="b" t="t" l="l"/>
              <a:pathLst>
                <a:path h="7607509" w="6705600">
                  <a:moveTo>
                    <a:pt x="0" y="950939"/>
                  </a:moveTo>
                  <a:cubicBezTo>
                    <a:pt x="0" y="425743"/>
                    <a:pt x="272923" y="0"/>
                    <a:pt x="609600" y="0"/>
                  </a:cubicBezTo>
                  <a:lnTo>
                    <a:pt x="6096000" y="0"/>
                  </a:lnTo>
                  <a:cubicBezTo>
                    <a:pt x="6432677" y="0"/>
                    <a:pt x="6705600" y="425743"/>
                    <a:pt x="6705600" y="950939"/>
                  </a:cubicBezTo>
                  <a:lnTo>
                    <a:pt x="6705600" y="6656570"/>
                  </a:lnTo>
                  <a:cubicBezTo>
                    <a:pt x="6705600" y="7181766"/>
                    <a:pt x="6432677" y="7607509"/>
                    <a:pt x="6096000" y="7607509"/>
                  </a:cubicBezTo>
                  <a:lnTo>
                    <a:pt x="609600" y="7607509"/>
                  </a:lnTo>
                  <a:cubicBezTo>
                    <a:pt x="272923" y="7607509"/>
                    <a:pt x="0" y="7181766"/>
                    <a:pt x="0" y="6656570"/>
                  </a:cubicBezTo>
                  <a:close/>
                </a:path>
              </a:pathLst>
            </a:custGeom>
            <a:solidFill>
              <a:srgbClr val="FFFFFF"/>
            </a:solidFill>
          </p:spPr>
        </p:sp>
      </p:grpSp>
      <p:grpSp>
        <p:nvGrpSpPr>
          <p:cNvPr name="Group 10" id="10"/>
          <p:cNvGrpSpPr/>
          <p:nvPr/>
        </p:nvGrpSpPr>
        <p:grpSpPr>
          <a:xfrm rot="0">
            <a:off x="3400425" y="4400550"/>
            <a:ext cx="600075" cy="685800"/>
            <a:chOff x="0" y="0"/>
            <a:chExt cx="800100" cy="914400"/>
          </a:xfrm>
        </p:grpSpPr>
        <p:sp>
          <p:nvSpPr>
            <p:cNvPr name="Freeform 11" id="11" descr="image.png"/>
            <p:cNvSpPr/>
            <p:nvPr/>
          </p:nvSpPr>
          <p:spPr>
            <a:xfrm flipH="false" flipV="false" rot="0">
              <a:off x="0" y="0"/>
              <a:ext cx="800100" cy="914400"/>
            </a:xfrm>
            <a:custGeom>
              <a:avLst/>
              <a:gdLst/>
              <a:ahLst/>
              <a:cxnLst/>
              <a:rect r="r" b="b" t="t" l="l"/>
              <a:pathLst>
                <a:path h="914400" w="800100">
                  <a:moveTo>
                    <a:pt x="0" y="0"/>
                  </a:moveTo>
                  <a:lnTo>
                    <a:pt x="800100" y="0"/>
                  </a:lnTo>
                  <a:lnTo>
                    <a:pt x="800100" y="914400"/>
                  </a:lnTo>
                  <a:lnTo>
                    <a:pt x="0" y="914400"/>
                  </a:lnTo>
                  <a:lnTo>
                    <a:pt x="0" y="0"/>
                  </a:lnTo>
                  <a:close/>
                </a:path>
              </a:pathLst>
            </a:custGeom>
            <a:blipFill>
              <a:blip r:embed="rId3"/>
              <a:stretch>
                <a:fillRect l="0" t="0" r="0" b="0"/>
              </a:stretch>
            </a:blipFill>
          </p:spPr>
        </p:sp>
      </p:grpSp>
      <p:grpSp>
        <p:nvGrpSpPr>
          <p:cNvPr name="Group 12" id="12"/>
          <p:cNvGrpSpPr/>
          <p:nvPr/>
        </p:nvGrpSpPr>
        <p:grpSpPr>
          <a:xfrm rot="0">
            <a:off x="8772525" y="4383964"/>
            <a:ext cx="685800" cy="685800"/>
            <a:chOff x="0" y="0"/>
            <a:chExt cx="914400" cy="914400"/>
          </a:xfrm>
        </p:grpSpPr>
        <p:sp>
          <p:nvSpPr>
            <p:cNvPr name="Freeform 13" id="13"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grpSp>
        <p:nvGrpSpPr>
          <p:cNvPr name="Group 14" id="14"/>
          <p:cNvGrpSpPr/>
          <p:nvPr/>
        </p:nvGrpSpPr>
        <p:grpSpPr>
          <a:xfrm rot="0">
            <a:off x="14401800" y="4383964"/>
            <a:ext cx="382542" cy="685800"/>
            <a:chOff x="0" y="0"/>
            <a:chExt cx="510056" cy="914400"/>
          </a:xfrm>
        </p:grpSpPr>
        <p:sp>
          <p:nvSpPr>
            <p:cNvPr name="Freeform 15" id="15" descr="image.png"/>
            <p:cNvSpPr/>
            <p:nvPr/>
          </p:nvSpPr>
          <p:spPr>
            <a:xfrm flipH="false" flipV="false" rot="0">
              <a:off x="0" y="0"/>
              <a:ext cx="510056" cy="914400"/>
            </a:xfrm>
            <a:custGeom>
              <a:avLst/>
              <a:gdLst/>
              <a:ahLst/>
              <a:cxnLst/>
              <a:rect r="r" b="b" t="t" l="l"/>
              <a:pathLst>
                <a:path h="914400" w="510056">
                  <a:moveTo>
                    <a:pt x="0" y="0"/>
                  </a:moveTo>
                  <a:lnTo>
                    <a:pt x="510056" y="0"/>
                  </a:lnTo>
                  <a:lnTo>
                    <a:pt x="510056" y="914400"/>
                  </a:lnTo>
                  <a:lnTo>
                    <a:pt x="0" y="914400"/>
                  </a:lnTo>
                  <a:lnTo>
                    <a:pt x="0" y="0"/>
                  </a:lnTo>
                  <a:close/>
                </a:path>
              </a:pathLst>
            </a:custGeom>
            <a:blipFill>
              <a:blip r:embed="rId5"/>
              <a:stretch>
                <a:fillRect l="0" t="-5780" r="0" b="-5780"/>
              </a:stretch>
            </a:blipFill>
          </p:spPr>
        </p:sp>
      </p:grpSp>
      <p:sp>
        <p:nvSpPr>
          <p:cNvPr name="TextBox 16" id="16"/>
          <p:cNvSpPr txBox="true"/>
          <p:nvPr/>
        </p:nvSpPr>
        <p:spPr>
          <a:xfrm rot="0">
            <a:off x="7495800" y="2019263"/>
            <a:ext cx="3296171" cy="428662"/>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GIẢI PHÁP BƯỚC 2</a:t>
            </a:r>
          </a:p>
        </p:txBody>
      </p:sp>
      <p:sp>
        <p:nvSpPr>
          <p:cNvPr name="TextBox 17" id="17"/>
          <p:cNvSpPr txBox="true"/>
          <p:nvPr/>
        </p:nvSpPr>
        <p:spPr>
          <a:xfrm rot="0">
            <a:off x="4158962" y="2628900"/>
            <a:ext cx="9969847"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Định tuyến chi tiết (OSRM API)</a:t>
            </a:r>
          </a:p>
        </p:txBody>
      </p:sp>
      <p:sp>
        <p:nvSpPr>
          <p:cNvPr name="TextBox 18" id="18"/>
          <p:cNvSpPr txBox="true"/>
          <p:nvPr/>
        </p:nvSpPr>
        <p:spPr>
          <a:xfrm rot="0">
            <a:off x="2042331" y="5353050"/>
            <a:ext cx="3316263"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Bản chất công nghệ</a:t>
            </a:r>
          </a:p>
        </p:txBody>
      </p:sp>
      <p:sp>
        <p:nvSpPr>
          <p:cNvPr name="TextBox 19" id="19"/>
          <p:cNvSpPr txBox="true"/>
          <p:nvPr/>
        </p:nvSpPr>
        <p:spPr>
          <a:xfrm rot="0">
            <a:off x="1304958" y="6139568"/>
            <a:ext cx="4705285" cy="3362623"/>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OSRM (Open Source Routing Machine) là một engine định tuyến giao thông mạnh mẽ, có khả năng phân tích hệ thống đường xá phức tạp (hẻm nhỏ, đường một chiều, điểm quay đầu).</a:t>
            </a:r>
          </a:p>
        </p:txBody>
      </p:sp>
      <p:sp>
        <p:nvSpPr>
          <p:cNvPr name="TextBox 20" id="20"/>
          <p:cNvSpPr txBox="true"/>
          <p:nvPr/>
        </p:nvSpPr>
        <p:spPr>
          <a:xfrm rot="0">
            <a:off x="7797382" y="5236452"/>
            <a:ext cx="2905683"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Chiến lược tối ưu</a:t>
            </a:r>
          </a:p>
        </p:txBody>
      </p:sp>
      <p:sp>
        <p:nvSpPr>
          <p:cNvPr name="TextBox 21" id="21"/>
          <p:cNvSpPr txBox="true"/>
          <p:nvPr/>
        </p:nvSpPr>
        <p:spPr>
          <a:xfrm rot="0">
            <a:off x="6837552" y="6139568"/>
            <a:ext cx="4727195" cy="294348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OSRM API KHÔNG ĐƯỢC DÙNG để tìm người gần nhất. Backend chỉ gọi OSRM API Đúng 1 Lần Duy Nhất dành cho Shipper cuối cùng đã trúng tuyển từ bộ lọc Haversine.</a:t>
            </a:r>
          </a:p>
        </p:txBody>
      </p:sp>
      <p:sp>
        <p:nvSpPr>
          <p:cNvPr name="TextBox 22" id="22"/>
          <p:cNvSpPr txBox="true"/>
          <p:nvPr/>
        </p:nvSpPr>
        <p:spPr>
          <a:xfrm rot="0">
            <a:off x="12901947" y="5236452"/>
            <a:ext cx="3456905"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Sự kết hợp hoàn hảo</a:t>
            </a:r>
          </a:p>
        </p:txBody>
      </p:sp>
      <p:sp>
        <p:nvSpPr>
          <p:cNvPr name="TextBox 23" id="23"/>
          <p:cNvSpPr txBox="true"/>
          <p:nvPr/>
        </p:nvSpPr>
        <p:spPr>
          <a:xfrm rot="0">
            <a:off x="12393804" y="6139568"/>
            <a:ext cx="4398534" cy="3362623"/>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Tư duy "Lọc siêu tốc bằng Math/CPU trước, gọi API sau" chính là mô hình tiêu chuẩn (System Design) đang được các tập đoàn công nghệ lớn như Grab, ShopeeFood áp dụng để tối ưu hệ thống.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6025" y="4379119"/>
            <a:ext cx="6429375" cy="3814762"/>
            <a:chOff x="0" y="0"/>
            <a:chExt cx="8572500" cy="5086350"/>
          </a:xfrm>
        </p:grpSpPr>
        <p:sp>
          <p:nvSpPr>
            <p:cNvPr name="Freeform 3" id="3"/>
            <p:cNvSpPr/>
            <p:nvPr/>
          </p:nvSpPr>
          <p:spPr>
            <a:xfrm flipH="false" flipV="false" rot="0">
              <a:off x="0" y="0"/>
              <a:ext cx="8572500" cy="5086350"/>
            </a:xfrm>
            <a:custGeom>
              <a:avLst/>
              <a:gdLst/>
              <a:ahLst/>
              <a:cxnLst/>
              <a:rect r="r" b="b" t="t" l="l"/>
              <a:pathLst>
                <a:path h="5086350" w="8572500">
                  <a:moveTo>
                    <a:pt x="0" y="609600"/>
                  </a:moveTo>
                  <a:cubicBezTo>
                    <a:pt x="0" y="272923"/>
                    <a:pt x="272923" y="0"/>
                    <a:pt x="609600" y="0"/>
                  </a:cubicBezTo>
                  <a:lnTo>
                    <a:pt x="7962900" y="0"/>
                  </a:lnTo>
                  <a:cubicBezTo>
                    <a:pt x="8299577" y="0"/>
                    <a:pt x="8572500" y="272923"/>
                    <a:pt x="8572500" y="609600"/>
                  </a:cubicBezTo>
                  <a:lnTo>
                    <a:pt x="8572500" y="4476750"/>
                  </a:lnTo>
                  <a:cubicBezTo>
                    <a:pt x="8572500" y="4813427"/>
                    <a:pt x="8299577" y="5086350"/>
                    <a:pt x="7962900" y="5086350"/>
                  </a:cubicBezTo>
                  <a:lnTo>
                    <a:pt x="609600" y="5086350"/>
                  </a:lnTo>
                  <a:cubicBezTo>
                    <a:pt x="272923" y="5086350"/>
                    <a:pt x="0" y="4813427"/>
                    <a:pt x="0" y="4476750"/>
                  </a:cubicBezTo>
                  <a:close/>
                </a:path>
              </a:pathLst>
            </a:custGeom>
            <a:solidFill>
              <a:srgbClr val="FAFAF9"/>
            </a:solidFill>
          </p:spPr>
        </p:sp>
      </p:grpSp>
      <p:grpSp>
        <p:nvGrpSpPr>
          <p:cNvPr name="Group 4" id="4"/>
          <p:cNvGrpSpPr/>
          <p:nvPr/>
        </p:nvGrpSpPr>
        <p:grpSpPr>
          <a:xfrm rot="0">
            <a:off x="9372600" y="4379119"/>
            <a:ext cx="6429375" cy="3814762"/>
            <a:chOff x="0" y="0"/>
            <a:chExt cx="8572500" cy="5086350"/>
          </a:xfrm>
        </p:grpSpPr>
        <p:sp>
          <p:nvSpPr>
            <p:cNvPr name="Freeform 5" id="5"/>
            <p:cNvSpPr/>
            <p:nvPr/>
          </p:nvSpPr>
          <p:spPr>
            <a:xfrm flipH="false" flipV="false" rot="0">
              <a:off x="0" y="0"/>
              <a:ext cx="8572500" cy="5086350"/>
            </a:xfrm>
            <a:custGeom>
              <a:avLst/>
              <a:gdLst/>
              <a:ahLst/>
              <a:cxnLst/>
              <a:rect r="r" b="b" t="t" l="l"/>
              <a:pathLst>
                <a:path h="5086350" w="8572500">
                  <a:moveTo>
                    <a:pt x="0" y="609600"/>
                  </a:moveTo>
                  <a:cubicBezTo>
                    <a:pt x="0" y="272923"/>
                    <a:pt x="272923" y="0"/>
                    <a:pt x="609600" y="0"/>
                  </a:cubicBezTo>
                  <a:lnTo>
                    <a:pt x="7962900" y="0"/>
                  </a:lnTo>
                  <a:cubicBezTo>
                    <a:pt x="8299577" y="0"/>
                    <a:pt x="8572500" y="272923"/>
                    <a:pt x="8572500" y="609600"/>
                  </a:cubicBezTo>
                  <a:lnTo>
                    <a:pt x="8572500" y="4476750"/>
                  </a:lnTo>
                  <a:cubicBezTo>
                    <a:pt x="8572500" y="4813427"/>
                    <a:pt x="8299577" y="5086350"/>
                    <a:pt x="7962900" y="5086350"/>
                  </a:cubicBezTo>
                  <a:lnTo>
                    <a:pt x="609600" y="5086350"/>
                  </a:lnTo>
                  <a:cubicBezTo>
                    <a:pt x="272923" y="5086350"/>
                    <a:pt x="0" y="4813427"/>
                    <a:pt x="0" y="4476750"/>
                  </a:cubicBezTo>
                  <a:close/>
                </a:path>
              </a:pathLst>
            </a:custGeom>
            <a:solidFill>
              <a:srgbClr val="FFF7ED"/>
            </a:solidFill>
          </p:spPr>
        </p:sp>
      </p:grpSp>
      <p:grpSp>
        <p:nvGrpSpPr>
          <p:cNvPr name="Group 6" id="6"/>
          <p:cNvGrpSpPr/>
          <p:nvPr/>
        </p:nvGrpSpPr>
        <p:grpSpPr>
          <a:xfrm rot="0">
            <a:off x="2486025" y="4379119"/>
            <a:ext cx="6429375" cy="85725"/>
            <a:chOff x="0" y="0"/>
            <a:chExt cx="8572500" cy="114300"/>
          </a:xfrm>
        </p:grpSpPr>
        <p:sp>
          <p:nvSpPr>
            <p:cNvPr name="Freeform 7" id="7"/>
            <p:cNvSpPr/>
            <p:nvPr/>
          </p:nvSpPr>
          <p:spPr>
            <a:xfrm flipH="false" flipV="false" rot="0">
              <a:off x="0" y="0"/>
              <a:ext cx="8572500" cy="114300"/>
            </a:xfrm>
            <a:custGeom>
              <a:avLst/>
              <a:gdLst/>
              <a:ahLst/>
              <a:cxnLst/>
              <a:rect r="r" b="b" t="t" l="l"/>
              <a:pathLst>
                <a:path h="114300" w="8572500">
                  <a:moveTo>
                    <a:pt x="0" y="0"/>
                  </a:moveTo>
                  <a:lnTo>
                    <a:pt x="8572500" y="0"/>
                  </a:lnTo>
                  <a:lnTo>
                    <a:pt x="8572500" y="114300"/>
                  </a:lnTo>
                  <a:lnTo>
                    <a:pt x="0" y="114300"/>
                  </a:lnTo>
                  <a:close/>
                </a:path>
              </a:pathLst>
            </a:custGeom>
            <a:solidFill>
              <a:srgbClr val="1C1917"/>
            </a:solidFill>
          </p:spPr>
        </p:sp>
      </p:grpSp>
      <p:grpSp>
        <p:nvGrpSpPr>
          <p:cNvPr name="Group 8" id="8"/>
          <p:cNvGrpSpPr/>
          <p:nvPr/>
        </p:nvGrpSpPr>
        <p:grpSpPr>
          <a:xfrm rot="0">
            <a:off x="9372600" y="4379119"/>
            <a:ext cx="6429375" cy="85725"/>
            <a:chOff x="0" y="0"/>
            <a:chExt cx="8572500" cy="114300"/>
          </a:xfrm>
        </p:grpSpPr>
        <p:sp>
          <p:nvSpPr>
            <p:cNvPr name="Freeform 9" id="9"/>
            <p:cNvSpPr/>
            <p:nvPr/>
          </p:nvSpPr>
          <p:spPr>
            <a:xfrm flipH="false" flipV="false" rot="0">
              <a:off x="0" y="0"/>
              <a:ext cx="8572500" cy="114300"/>
            </a:xfrm>
            <a:custGeom>
              <a:avLst/>
              <a:gdLst/>
              <a:ahLst/>
              <a:cxnLst/>
              <a:rect r="r" b="b" t="t" l="l"/>
              <a:pathLst>
                <a:path h="114300" w="8572500">
                  <a:moveTo>
                    <a:pt x="0" y="0"/>
                  </a:moveTo>
                  <a:lnTo>
                    <a:pt x="8572500" y="0"/>
                  </a:lnTo>
                  <a:lnTo>
                    <a:pt x="8572500" y="114300"/>
                  </a:lnTo>
                  <a:lnTo>
                    <a:pt x="0" y="114300"/>
                  </a:lnTo>
                  <a:close/>
                </a:path>
              </a:pathLst>
            </a:custGeom>
            <a:solidFill>
              <a:srgbClr val="FF6B2B"/>
            </a:solidFill>
          </p:spPr>
        </p:sp>
      </p:grpSp>
      <p:grpSp>
        <p:nvGrpSpPr>
          <p:cNvPr name="Group 10" id="10"/>
          <p:cNvGrpSpPr/>
          <p:nvPr/>
        </p:nvGrpSpPr>
        <p:grpSpPr>
          <a:xfrm rot="0">
            <a:off x="5314950" y="5150644"/>
            <a:ext cx="771525" cy="685800"/>
            <a:chOff x="0" y="0"/>
            <a:chExt cx="1028700" cy="914400"/>
          </a:xfrm>
        </p:grpSpPr>
        <p:sp>
          <p:nvSpPr>
            <p:cNvPr name="Freeform 11" id="11"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2"/>
              <a:stretch>
                <a:fillRect l="0" t="-1041" r="0" b="-1041"/>
              </a:stretch>
            </a:blipFill>
          </p:spPr>
        </p:sp>
      </p:grpSp>
      <p:grpSp>
        <p:nvGrpSpPr>
          <p:cNvPr name="Group 12" id="12"/>
          <p:cNvGrpSpPr/>
          <p:nvPr/>
        </p:nvGrpSpPr>
        <p:grpSpPr>
          <a:xfrm rot="0">
            <a:off x="12244388" y="5150644"/>
            <a:ext cx="685800" cy="685800"/>
            <a:chOff x="0" y="0"/>
            <a:chExt cx="914400" cy="914400"/>
          </a:xfrm>
        </p:grpSpPr>
        <p:sp>
          <p:nvSpPr>
            <p:cNvPr name="Freeform 13" id="13"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
              <a:stretch>
                <a:fillRect l="0" t="-1041" r="0" b="-1041"/>
              </a:stretch>
            </a:blipFill>
          </p:spPr>
        </p:sp>
      </p:grpSp>
      <p:sp>
        <p:nvSpPr>
          <p:cNvPr name="TextBox 14" id="14"/>
          <p:cNvSpPr txBox="true"/>
          <p:nvPr/>
        </p:nvSpPr>
        <p:spPr>
          <a:xfrm rot="0">
            <a:off x="7481404" y="2083594"/>
            <a:ext cx="3325192" cy="428662"/>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GIÁ TRỊ THỰC TIỄN</a:t>
            </a:r>
          </a:p>
        </p:txBody>
      </p:sp>
      <p:sp>
        <p:nvSpPr>
          <p:cNvPr name="TextBox 15" id="15"/>
          <p:cNvSpPr txBox="true"/>
          <p:nvPr/>
        </p:nvSpPr>
        <p:spPr>
          <a:xfrm rot="0">
            <a:off x="5713735" y="2607469"/>
            <a:ext cx="6860530" cy="819150"/>
          </a:xfrm>
          <a:prstGeom prst="rect">
            <a:avLst/>
          </a:prstGeom>
        </p:spPr>
        <p:txBody>
          <a:bodyPr anchor="t" rtlCol="false" tIns="0" lIns="0" bIns="0" rIns="0">
            <a:spAutoFit/>
          </a:bodyPr>
          <a:lstStyle/>
          <a:p>
            <a:pPr algn="ctr">
              <a:lnSpc>
                <a:spcPts val="6480"/>
              </a:lnSpc>
            </a:pPr>
            <a:r>
              <a:rPr lang="en-US" sz="5400" b="true">
                <a:solidFill>
                  <a:srgbClr val="1C1917"/>
                </a:solidFill>
                <a:latin typeface="Public Sans Bold"/>
                <a:ea typeface="Public Sans Bold"/>
                <a:cs typeface="Public Sans Bold"/>
                <a:sym typeface="Public Sans Bold"/>
              </a:rPr>
              <a:t>Sức mạnh của OSRM</a:t>
            </a:r>
          </a:p>
        </p:txBody>
      </p:sp>
      <p:sp>
        <p:nvSpPr>
          <p:cNvPr name="TextBox 16" id="16"/>
          <p:cNvSpPr txBox="true"/>
          <p:nvPr/>
        </p:nvSpPr>
        <p:spPr>
          <a:xfrm rot="0">
            <a:off x="4748431" y="6169819"/>
            <a:ext cx="1904554" cy="428625"/>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Vẽ Polyline</a:t>
            </a:r>
          </a:p>
        </p:txBody>
      </p:sp>
      <p:sp>
        <p:nvSpPr>
          <p:cNvPr name="TextBox 17" id="17"/>
          <p:cNvSpPr txBox="true"/>
          <p:nvPr/>
        </p:nvSpPr>
        <p:spPr>
          <a:xfrm rot="0">
            <a:off x="2539603" y="6898481"/>
            <a:ext cx="6322219"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Trả về chuỗi tọa độ để vẽ đường đi bám sát thực tế.</a:t>
            </a:r>
          </a:p>
        </p:txBody>
      </p:sp>
      <p:sp>
        <p:nvSpPr>
          <p:cNvPr name="TextBox 18" id="18"/>
          <p:cNvSpPr txBox="true"/>
          <p:nvPr/>
        </p:nvSpPr>
        <p:spPr>
          <a:xfrm rot="0">
            <a:off x="11407225" y="6169819"/>
            <a:ext cx="2360116" cy="428625"/>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Tính toán ETA</a:t>
            </a:r>
          </a:p>
        </p:txBody>
      </p:sp>
      <p:sp>
        <p:nvSpPr>
          <p:cNvPr name="TextBox 19" id="19"/>
          <p:cNvSpPr txBox="true"/>
          <p:nvPr/>
        </p:nvSpPr>
        <p:spPr>
          <a:xfrm rot="0">
            <a:off x="9426178" y="6898481"/>
            <a:ext cx="6322219"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Đo lường thời gian dự kiến giao hàng tính bằng phút.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985962" y="4257675"/>
            <a:ext cx="6829425" cy="3543300"/>
            <a:chOff x="0" y="0"/>
            <a:chExt cx="9105900" cy="4724400"/>
          </a:xfrm>
        </p:grpSpPr>
        <p:sp>
          <p:nvSpPr>
            <p:cNvPr name="Freeform 5" id="5"/>
            <p:cNvSpPr/>
            <p:nvPr/>
          </p:nvSpPr>
          <p:spPr>
            <a:xfrm flipH="false" flipV="false" rot="0">
              <a:off x="0" y="0"/>
              <a:ext cx="9105900" cy="4724400"/>
            </a:xfrm>
            <a:custGeom>
              <a:avLst/>
              <a:gdLst/>
              <a:ahLst/>
              <a:cxnLst/>
              <a:rect r="r" b="b" t="t" l="l"/>
              <a:pathLst>
                <a:path h="4724400" w="9105900">
                  <a:moveTo>
                    <a:pt x="0" y="614553"/>
                  </a:moveTo>
                  <a:cubicBezTo>
                    <a:pt x="0" y="275082"/>
                    <a:pt x="275082" y="0"/>
                    <a:pt x="614553" y="0"/>
                  </a:cubicBezTo>
                  <a:lnTo>
                    <a:pt x="8491347" y="0"/>
                  </a:lnTo>
                  <a:cubicBezTo>
                    <a:pt x="8830818" y="0"/>
                    <a:pt x="9105900" y="275082"/>
                    <a:pt x="9105900" y="614553"/>
                  </a:cubicBezTo>
                  <a:lnTo>
                    <a:pt x="9105900" y="4109847"/>
                  </a:lnTo>
                  <a:cubicBezTo>
                    <a:pt x="9105900" y="4449191"/>
                    <a:pt x="8830818" y="4724400"/>
                    <a:pt x="8491347" y="4724400"/>
                  </a:cubicBezTo>
                  <a:lnTo>
                    <a:pt x="614553" y="4724400"/>
                  </a:lnTo>
                  <a:cubicBezTo>
                    <a:pt x="275082" y="4724400"/>
                    <a:pt x="0" y="4449318"/>
                    <a:pt x="0" y="4109847"/>
                  </a:cubicBezTo>
                  <a:close/>
                </a:path>
              </a:pathLst>
            </a:custGeom>
            <a:solidFill>
              <a:srgbClr val="FFFFFF"/>
            </a:solidFill>
            <a:ln w="28575" cap="sq">
              <a:solidFill>
                <a:srgbClr val="E2E8F0"/>
              </a:solidFill>
              <a:prstDash val="solid"/>
              <a:miter/>
            </a:ln>
          </p:spPr>
        </p:sp>
      </p:grpSp>
      <p:grpSp>
        <p:nvGrpSpPr>
          <p:cNvPr name="Group 6" id="6"/>
          <p:cNvGrpSpPr/>
          <p:nvPr/>
        </p:nvGrpSpPr>
        <p:grpSpPr>
          <a:xfrm rot="0">
            <a:off x="9472612" y="4257675"/>
            <a:ext cx="6829425" cy="3543300"/>
            <a:chOff x="0" y="0"/>
            <a:chExt cx="9105900" cy="4724400"/>
          </a:xfrm>
        </p:grpSpPr>
        <p:sp>
          <p:nvSpPr>
            <p:cNvPr name="Freeform 7" id="7"/>
            <p:cNvSpPr/>
            <p:nvPr/>
          </p:nvSpPr>
          <p:spPr>
            <a:xfrm flipH="false" flipV="false" rot="0">
              <a:off x="0" y="0"/>
              <a:ext cx="9105900" cy="4724400"/>
            </a:xfrm>
            <a:custGeom>
              <a:avLst/>
              <a:gdLst/>
              <a:ahLst/>
              <a:cxnLst/>
              <a:rect r="r" b="b" t="t" l="l"/>
              <a:pathLst>
                <a:path h="4724400" w="9105900">
                  <a:moveTo>
                    <a:pt x="0" y="614553"/>
                  </a:moveTo>
                  <a:cubicBezTo>
                    <a:pt x="0" y="275082"/>
                    <a:pt x="275082" y="0"/>
                    <a:pt x="614553" y="0"/>
                  </a:cubicBezTo>
                  <a:lnTo>
                    <a:pt x="8491347" y="0"/>
                  </a:lnTo>
                  <a:cubicBezTo>
                    <a:pt x="8830818" y="0"/>
                    <a:pt x="9105900" y="275082"/>
                    <a:pt x="9105900" y="614553"/>
                  </a:cubicBezTo>
                  <a:lnTo>
                    <a:pt x="9105900" y="4109847"/>
                  </a:lnTo>
                  <a:cubicBezTo>
                    <a:pt x="9105900" y="4449191"/>
                    <a:pt x="8830818" y="4724400"/>
                    <a:pt x="8491347" y="4724400"/>
                  </a:cubicBezTo>
                  <a:lnTo>
                    <a:pt x="614553" y="4724400"/>
                  </a:lnTo>
                  <a:cubicBezTo>
                    <a:pt x="275082" y="4724400"/>
                    <a:pt x="0" y="4449318"/>
                    <a:pt x="0" y="4109847"/>
                  </a:cubicBezTo>
                  <a:close/>
                </a:path>
              </a:pathLst>
            </a:custGeom>
            <a:solidFill>
              <a:srgbClr val="FFFFFF"/>
            </a:solidFill>
            <a:ln w="28575" cap="sq">
              <a:solidFill>
                <a:srgbClr val="E2E8F0"/>
              </a:solidFill>
              <a:prstDash val="solid"/>
              <a:miter/>
            </a:ln>
          </p:spPr>
        </p:sp>
      </p:grpSp>
      <p:sp>
        <p:nvSpPr>
          <p:cNvPr name="TextBox 8" id="8"/>
          <p:cNvSpPr txBox="true"/>
          <p:nvPr/>
        </p:nvSpPr>
        <p:spPr>
          <a:xfrm rot="0">
            <a:off x="5197297" y="2500312"/>
            <a:ext cx="8081814" cy="819150"/>
          </a:xfrm>
          <a:prstGeom prst="rect">
            <a:avLst/>
          </a:prstGeom>
        </p:spPr>
        <p:txBody>
          <a:bodyPr anchor="t" rtlCol="false" tIns="0" lIns="0" bIns="0" rIns="0">
            <a:spAutoFit/>
          </a:bodyPr>
          <a:lstStyle/>
          <a:p>
            <a:pPr algn="l">
              <a:lnSpc>
                <a:spcPts val="6480"/>
              </a:lnSpc>
            </a:pPr>
            <a:r>
              <a:rPr lang="en-US" sz="5400" b="true">
                <a:solidFill>
                  <a:srgbClr val="1C1917"/>
                </a:solidFill>
                <a:latin typeface="Public Sans Bold"/>
                <a:ea typeface="Public Sans Bold"/>
                <a:cs typeface="Public Sans Bold"/>
                <a:sym typeface="Public Sans Bold"/>
              </a:rPr>
              <a:t>Tóm tắt Tư duy Hệ thống</a:t>
            </a:r>
          </a:p>
        </p:txBody>
      </p:sp>
      <p:sp>
        <p:nvSpPr>
          <p:cNvPr name="TextBox 9" id="9"/>
          <p:cNvSpPr txBox="true"/>
          <p:nvPr/>
        </p:nvSpPr>
        <p:spPr>
          <a:xfrm rot="0">
            <a:off x="4424735" y="4733925"/>
            <a:ext cx="1951881" cy="495300"/>
          </a:xfrm>
          <a:prstGeom prst="rect">
            <a:avLst/>
          </a:prstGeom>
        </p:spPr>
        <p:txBody>
          <a:bodyPr anchor="t" rtlCol="false" tIns="0" lIns="0" bIns="0" rIns="0">
            <a:spAutoFit/>
          </a:bodyPr>
          <a:lstStyle/>
          <a:p>
            <a:pPr algn="ctr">
              <a:lnSpc>
                <a:spcPts val="3840"/>
              </a:lnSpc>
            </a:pPr>
            <a:r>
              <a:rPr lang="en-US" sz="3200" b="true">
                <a:solidFill>
                  <a:srgbClr val="1C1917"/>
                </a:solidFill>
                <a:latin typeface="Public Sans Bold"/>
                <a:ea typeface="Public Sans Bold"/>
                <a:cs typeface="Public Sans Bold"/>
                <a:sym typeface="Public Sans Bold"/>
              </a:rPr>
              <a:t>Haversine</a:t>
            </a:r>
          </a:p>
        </p:txBody>
      </p:sp>
      <p:sp>
        <p:nvSpPr>
          <p:cNvPr name="TextBox 10" id="10"/>
          <p:cNvSpPr txBox="true"/>
          <p:nvPr/>
        </p:nvSpPr>
        <p:spPr>
          <a:xfrm rot="0">
            <a:off x="3764607" y="5365354"/>
            <a:ext cx="3272135" cy="428625"/>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Mục đích: LỌC THÔ</a:t>
            </a:r>
          </a:p>
        </p:txBody>
      </p:sp>
      <p:sp>
        <p:nvSpPr>
          <p:cNvPr name="TextBox 11" id="11"/>
          <p:cNvSpPr txBox="true"/>
          <p:nvPr/>
        </p:nvSpPr>
        <p:spPr>
          <a:xfrm rot="0">
            <a:off x="2100262" y="6155962"/>
            <a:ext cx="6715125"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Xử lý 10.000 vị trí trong 1ms bằng sức mạnh CPU nội bộ.</a:t>
            </a:r>
          </a:p>
        </p:txBody>
      </p:sp>
      <p:sp>
        <p:nvSpPr>
          <p:cNvPr name="TextBox 12" id="12"/>
          <p:cNvSpPr txBox="true"/>
          <p:nvPr/>
        </p:nvSpPr>
        <p:spPr>
          <a:xfrm rot="0">
            <a:off x="11878345" y="4733925"/>
            <a:ext cx="2017961" cy="495300"/>
          </a:xfrm>
          <a:prstGeom prst="rect">
            <a:avLst/>
          </a:prstGeom>
        </p:spPr>
        <p:txBody>
          <a:bodyPr anchor="t" rtlCol="false" tIns="0" lIns="0" bIns="0" rIns="0">
            <a:spAutoFit/>
          </a:bodyPr>
          <a:lstStyle/>
          <a:p>
            <a:pPr algn="ctr">
              <a:lnSpc>
                <a:spcPts val="3840"/>
              </a:lnSpc>
            </a:pPr>
            <a:r>
              <a:rPr lang="en-US" sz="3200" b="true">
                <a:solidFill>
                  <a:srgbClr val="1C1917"/>
                </a:solidFill>
                <a:latin typeface="Public Sans Bold"/>
                <a:ea typeface="Public Sans Bold"/>
                <a:cs typeface="Public Sans Bold"/>
                <a:sym typeface="Public Sans Bold"/>
              </a:rPr>
              <a:t>OSRM API</a:t>
            </a:r>
          </a:p>
        </p:txBody>
      </p:sp>
      <p:sp>
        <p:nvSpPr>
          <p:cNvPr name="TextBox 13" id="13"/>
          <p:cNvSpPr txBox="true"/>
          <p:nvPr/>
        </p:nvSpPr>
        <p:spPr>
          <a:xfrm rot="0">
            <a:off x="11052497" y="5365354"/>
            <a:ext cx="3669655" cy="428625"/>
          </a:xfrm>
          <a:prstGeom prst="rect">
            <a:avLst/>
          </a:prstGeom>
        </p:spPr>
        <p:txBody>
          <a:bodyPr anchor="t" rtlCol="false" tIns="0" lIns="0" bIns="0" rIns="0">
            <a:spAutoFit/>
          </a:bodyPr>
          <a:lstStyle/>
          <a:p>
            <a:pPr algn="ctr">
              <a:lnSpc>
                <a:spcPts val="3359"/>
              </a:lnSpc>
            </a:pPr>
            <a:r>
              <a:rPr lang="en-US" sz="2799" b="true">
                <a:solidFill>
                  <a:srgbClr val="0F172A"/>
                </a:solidFill>
                <a:latin typeface="Public Sans Bold"/>
                <a:ea typeface="Public Sans Bold"/>
                <a:cs typeface="Public Sans Bold"/>
                <a:sym typeface="Public Sans Bold"/>
              </a:rPr>
              <a:t>Mục đích: VẼ ĐƯỜNG</a:t>
            </a:r>
          </a:p>
        </p:txBody>
      </p:sp>
      <p:sp>
        <p:nvSpPr>
          <p:cNvPr name="TextBox 14" id="14"/>
          <p:cNvSpPr txBox="true"/>
          <p:nvPr/>
        </p:nvSpPr>
        <p:spPr>
          <a:xfrm rot="0">
            <a:off x="9529762" y="6155962"/>
            <a:ext cx="6715125" cy="847725"/>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Gọi đúng 1 lần duy nhất cho Shipper trúng tuyển.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C1917"/>
        </a:solidFill>
      </p:bgPr>
    </p:bg>
    <p:spTree>
      <p:nvGrpSpPr>
        <p:cNvPr id="1" name=""/>
        <p:cNvGrpSpPr/>
        <p:nvPr/>
      </p:nvGrpSpPr>
      <p:grpSpPr>
        <a:xfrm>
          <a:off x="0" y="0"/>
          <a:ext cx="0" cy="0"/>
          <a:chOff x="0" y="0"/>
          <a:chExt cx="0" cy="0"/>
        </a:xfrm>
      </p:grpSpPr>
      <p:grpSp>
        <p:nvGrpSpPr>
          <p:cNvPr name="Group 2" id="2"/>
          <p:cNvGrpSpPr/>
          <p:nvPr/>
        </p:nvGrpSpPr>
        <p:grpSpPr>
          <a:xfrm rot="0">
            <a:off x="8429625" y="2493169"/>
            <a:ext cx="1428750" cy="1143000"/>
            <a:chOff x="0" y="0"/>
            <a:chExt cx="1905000" cy="1524000"/>
          </a:xfrm>
        </p:grpSpPr>
        <p:sp>
          <p:nvSpPr>
            <p:cNvPr name="Freeform 3" id="3" descr="image.png"/>
            <p:cNvSpPr/>
            <p:nvPr/>
          </p:nvSpPr>
          <p:spPr>
            <a:xfrm flipH="false" flipV="false" rot="0">
              <a:off x="0" y="0"/>
              <a:ext cx="1905000" cy="1524000"/>
            </a:xfrm>
            <a:custGeom>
              <a:avLst/>
              <a:gdLst/>
              <a:ahLst/>
              <a:cxnLst/>
              <a:rect r="r" b="b" t="t" l="l"/>
              <a:pathLst>
                <a:path h="1524000" w="1905000">
                  <a:moveTo>
                    <a:pt x="0" y="0"/>
                  </a:moveTo>
                  <a:lnTo>
                    <a:pt x="1905000" y="0"/>
                  </a:lnTo>
                  <a:lnTo>
                    <a:pt x="1905000" y="1524000"/>
                  </a:lnTo>
                  <a:lnTo>
                    <a:pt x="0" y="1524000"/>
                  </a:lnTo>
                  <a:lnTo>
                    <a:pt x="0" y="0"/>
                  </a:lnTo>
                  <a:close/>
                </a:path>
              </a:pathLst>
            </a:custGeom>
            <a:blipFill>
              <a:blip r:embed="rId2"/>
              <a:stretch>
                <a:fillRect l="0" t="-625" r="0" b="-625"/>
              </a:stretch>
            </a:blipFill>
          </p:spPr>
        </p:sp>
      </p:grpSp>
      <p:sp>
        <p:nvSpPr>
          <p:cNvPr name="TextBox 4" id="4"/>
          <p:cNvSpPr txBox="true"/>
          <p:nvPr/>
        </p:nvSpPr>
        <p:spPr>
          <a:xfrm rot="0">
            <a:off x="4057457" y="4093369"/>
            <a:ext cx="10172849" cy="819150"/>
          </a:xfrm>
          <a:prstGeom prst="rect">
            <a:avLst/>
          </a:prstGeom>
        </p:spPr>
        <p:txBody>
          <a:bodyPr anchor="t" rtlCol="false" tIns="0" lIns="0" bIns="0" rIns="0">
            <a:spAutoFit/>
          </a:bodyPr>
          <a:lstStyle/>
          <a:p>
            <a:pPr algn="ctr">
              <a:lnSpc>
                <a:spcPts val="6480"/>
              </a:lnSpc>
            </a:pPr>
            <a:r>
              <a:rPr lang="en-US" sz="5400" b="true">
                <a:solidFill>
                  <a:srgbClr val="FFFFFF"/>
                </a:solidFill>
                <a:latin typeface="Public Sans Bold"/>
                <a:ea typeface="Public Sans Bold"/>
                <a:cs typeface="Public Sans Bold"/>
                <a:sym typeface="Public Sans Bold"/>
              </a:rPr>
              <a:t>Hạ tầng ASP.NET Core SignalR</a:t>
            </a:r>
          </a:p>
        </p:txBody>
      </p:sp>
      <p:sp>
        <p:nvSpPr>
          <p:cNvPr name="TextBox 5" id="5"/>
          <p:cNvSpPr txBox="true"/>
          <p:nvPr/>
        </p:nvSpPr>
        <p:spPr>
          <a:xfrm rot="0">
            <a:off x="2000250" y="5283994"/>
            <a:ext cx="14287500" cy="428625"/>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Khung truyền thông dữ liệu thời gian thực (Real-time) cốt lõi của Microsoft.</a:t>
            </a:r>
          </a:p>
        </p:txBody>
      </p:sp>
      <p:sp>
        <p:nvSpPr>
          <p:cNvPr name="TextBox 6" id="6"/>
          <p:cNvSpPr txBox="true"/>
          <p:nvPr/>
        </p:nvSpPr>
        <p:spPr>
          <a:xfrm rot="0">
            <a:off x="5434199" y="6798469"/>
            <a:ext cx="2761878" cy="552376"/>
          </a:xfrm>
          <a:prstGeom prst="rect">
            <a:avLst/>
          </a:prstGeom>
        </p:spPr>
        <p:txBody>
          <a:bodyPr anchor="t" rtlCol="false" tIns="0" lIns="0" bIns="0" rIns="0">
            <a:spAutoFit/>
          </a:bodyPr>
          <a:lstStyle/>
          <a:p>
            <a:pPr algn="ctr">
              <a:lnSpc>
                <a:spcPts val="4320"/>
              </a:lnSpc>
            </a:pPr>
            <a:r>
              <a:rPr lang="en-US" sz="3600" b="true">
                <a:solidFill>
                  <a:srgbClr val="FF6B2B"/>
                </a:solidFill>
                <a:latin typeface="Public Sans Bold"/>
                <a:ea typeface="Public Sans Bold"/>
                <a:cs typeface="Public Sans Bold"/>
                <a:sym typeface="Public Sans Bold"/>
              </a:rPr>
              <a:t>WebSockets</a:t>
            </a:r>
          </a:p>
        </p:txBody>
      </p:sp>
      <p:sp>
        <p:nvSpPr>
          <p:cNvPr name="TextBox 7" id="7"/>
          <p:cNvSpPr txBox="true"/>
          <p:nvPr/>
        </p:nvSpPr>
        <p:spPr>
          <a:xfrm rot="0">
            <a:off x="4086002" y="7499600"/>
            <a:ext cx="4110038" cy="428625"/>
          </a:xfrm>
          <a:prstGeom prst="rect">
            <a:avLst/>
          </a:prstGeom>
        </p:spPr>
        <p:txBody>
          <a:bodyPr anchor="t" rtlCol="false" tIns="0" lIns="0" bIns="0" rIns="0">
            <a:spAutoFit/>
          </a:bodyPr>
          <a:lstStyle/>
          <a:p>
            <a:pPr algn="ctr">
              <a:lnSpc>
                <a:spcPts val="3359"/>
              </a:lnSpc>
            </a:pPr>
            <a:r>
              <a:rPr lang="en-US" sz="2799">
                <a:solidFill>
                  <a:srgbClr val="A8A29E"/>
                </a:solidFill>
                <a:latin typeface="Public Sans"/>
                <a:ea typeface="Public Sans"/>
                <a:cs typeface="Public Sans"/>
                <a:sym typeface="Public Sans"/>
              </a:rPr>
              <a:t>Kết nối hai chiều liên tục.</a:t>
            </a:r>
          </a:p>
        </p:txBody>
      </p:sp>
      <p:sp>
        <p:nvSpPr>
          <p:cNvPr name="TextBox 8" id="8"/>
          <p:cNvSpPr txBox="true"/>
          <p:nvPr/>
        </p:nvSpPr>
        <p:spPr>
          <a:xfrm rot="0">
            <a:off x="9403835" y="6798469"/>
            <a:ext cx="3452254" cy="552376"/>
          </a:xfrm>
          <a:prstGeom prst="rect">
            <a:avLst/>
          </a:prstGeom>
        </p:spPr>
        <p:txBody>
          <a:bodyPr anchor="t" rtlCol="false" tIns="0" lIns="0" bIns="0" rIns="0">
            <a:spAutoFit/>
          </a:bodyPr>
          <a:lstStyle/>
          <a:p>
            <a:pPr algn="ctr">
              <a:lnSpc>
                <a:spcPts val="4320"/>
              </a:lnSpc>
            </a:pPr>
            <a:r>
              <a:rPr lang="en-US" sz="3600" b="true">
                <a:solidFill>
                  <a:srgbClr val="FF6B2B"/>
                </a:solidFill>
                <a:latin typeface="Public Sans Bold"/>
                <a:ea typeface="Public Sans Bold"/>
                <a:cs typeface="Public Sans Bold"/>
                <a:sym typeface="Public Sans Bold"/>
              </a:rPr>
              <a:t>signalr_netcore</a:t>
            </a:r>
          </a:p>
        </p:txBody>
      </p:sp>
      <p:sp>
        <p:nvSpPr>
          <p:cNvPr name="TextBox 9" id="9"/>
          <p:cNvSpPr txBox="true"/>
          <p:nvPr/>
        </p:nvSpPr>
        <p:spPr>
          <a:xfrm rot="0">
            <a:off x="9396503" y="7499600"/>
            <a:ext cx="5061347" cy="428625"/>
          </a:xfrm>
          <a:prstGeom prst="rect">
            <a:avLst/>
          </a:prstGeom>
        </p:spPr>
        <p:txBody>
          <a:bodyPr anchor="t" rtlCol="false" tIns="0" lIns="0" bIns="0" rIns="0">
            <a:spAutoFit/>
          </a:bodyPr>
          <a:lstStyle/>
          <a:p>
            <a:pPr algn="ctr">
              <a:lnSpc>
                <a:spcPts val="3359"/>
              </a:lnSpc>
            </a:pPr>
            <a:r>
              <a:rPr lang="en-US" sz="2799">
                <a:solidFill>
                  <a:srgbClr val="A8A29E"/>
                </a:solidFill>
                <a:latin typeface="Public Sans"/>
                <a:ea typeface="Public Sans"/>
                <a:cs typeface="Public Sans"/>
                <a:sym typeface="Public Sans"/>
              </a:rPr>
              <a:t>Thư viện duy trì kết nối Flutter.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580427" y="1542547"/>
            <a:ext cx="9228652" cy="7201906"/>
            <a:chOff x="0" y="0"/>
            <a:chExt cx="1041537" cy="812800"/>
          </a:xfrm>
        </p:grpSpPr>
        <p:sp>
          <p:nvSpPr>
            <p:cNvPr name="Freeform 5" id="5"/>
            <p:cNvSpPr/>
            <p:nvPr/>
          </p:nvSpPr>
          <p:spPr>
            <a:xfrm flipH="false" flipV="false" rot="0">
              <a:off x="0" y="0"/>
              <a:ext cx="1041537" cy="812800"/>
            </a:xfrm>
            <a:custGeom>
              <a:avLst/>
              <a:gdLst/>
              <a:ahLst/>
              <a:cxnLst/>
              <a:rect r="r" b="b" t="t" l="l"/>
              <a:pathLst>
                <a:path h="812800" w="1041537">
                  <a:moveTo>
                    <a:pt x="0" y="0"/>
                  </a:moveTo>
                  <a:lnTo>
                    <a:pt x="1041537" y="0"/>
                  </a:lnTo>
                  <a:lnTo>
                    <a:pt x="1041537" y="812800"/>
                  </a:lnTo>
                  <a:lnTo>
                    <a:pt x="0" y="812800"/>
                  </a:lnTo>
                  <a:close/>
                </a:path>
              </a:pathLst>
            </a:custGeom>
            <a:blipFill>
              <a:blip r:embed="rId3"/>
              <a:stretch>
                <a:fillRect l="-19300" t="0" r="-19300" b="0"/>
              </a:stretch>
            </a:blipFill>
          </p:spPr>
        </p:sp>
      </p:grpSp>
      <p:sp>
        <p:nvSpPr>
          <p:cNvPr name="TextBox 6" id="6"/>
          <p:cNvSpPr txBox="true"/>
          <p:nvPr/>
        </p:nvSpPr>
        <p:spPr>
          <a:xfrm rot="0">
            <a:off x="2235462" y="1019175"/>
            <a:ext cx="3452254" cy="695251"/>
          </a:xfrm>
          <a:prstGeom prst="rect">
            <a:avLst/>
          </a:prstGeom>
        </p:spPr>
        <p:txBody>
          <a:bodyPr anchor="t" rtlCol="false" tIns="0" lIns="0" bIns="0" rIns="0">
            <a:spAutoFit/>
          </a:bodyPr>
          <a:lstStyle/>
          <a:p>
            <a:pPr algn="l">
              <a:lnSpc>
                <a:spcPts val="5400"/>
              </a:lnSpc>
            </a:pPr>
            <a:r>
              <a:rPr lang="en-US" sz="4500" b="true">
                <a:solidFill>
                  <a:srgbClr val="1C1917"/>
                </a:solidFill>
                <a:latin typeface="Public Sans Bold"/>
                <a:ea typeface="Public Sans Bold"/>
                <a:cs typeface="Public Sans Bold"/>
                <a:sym typeface="Public Sans Bold"/>
              </a:rPr>
              <a:t>We</a:t>
            </a:r>
            <a:r>
              <a:rPr lang="en-US" sz="4500" b="true">
                <a:solidFill>
                  <a:srgbClr val="1C1917"/>
                </a:solidFill>
                <a:latin typeface="Public Sans Bold"/>
                <a:ea typeface="Public Sans Bold"/>
                <a:cs typeface="Public Sans Bold"/>
                <a:sym typeface="Public Sans Bold"/>
              </a:rPr>
              <a:t>bSockets</a:t>
            </a:r>
          </a:p>
        </p:txBody>
      </p:sp>
      <p:sp>
        <p:nvSpPr>
          <p:cNvPr name="TextBox 7" id="7"/>
          <p:cNvSpPr txBox="true"/>
          <p:nvPr/>
        </p:nvSpPr>
        <p:spPr>
          <a:xfrm rot="0">
            <a:off x="1359031" y="2601819"/>
            <a:ext cx="5444691"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Bản chất Giao thức WebSockets</a:t>
            </a:r>
          </a:p>
        </p:txBody>
      </p:sp>
      <p:sp>
        <p:nvSpPr>
          <p:cNvPr name="TextBox 8" id="8"/>
          <p:cNvSpPr txBox="true"/>
          <p:nvPr/>
        </p:nvSpPr>
        <p:spPr>
          <a:xfrm rot="0">
            <a:off x="1359031" y="3248186"/>
            <a:ext cx="7084147" cy="1266937"/>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Full-duplex:</a:t>
            </a:r>
            <a:r>
              <a:rPr lang="en-US" sz="2799">
                <a:solidFill>
                  <a:srgbClr val="57534E"/>
                </a:solidFill>
                <a:latin typeface="Public Sans"/>
                <a:ea typeface="Public Sans"/>
                <a:cs typeface="Public Sans"/>
                <a:sym typeface="Public Sans"/>
              </a:rPr>
              <a:t> Thiết lập đường ống truyền tải dữ liệu hai chiều đồng thời qua một kết nối TCP duy nhất.</a:t>
            </a:r>
          </a:p>
        </p:txBody>
      </p:sp>
      <p:sp>
        <p:nvSpPr>
          <p:cNvPr name="TextBox 9" id="9"/>
          <p:cNvSpPr txBox="true"/>
          <p:nvPr/>
        </p:nvSpPr>
        <p:spPr>
          <a:xfrm rot="0">
            <a:off x="1359031" y="4960800"/>
            <a:ext cx="7084147" cy="1686074"/>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Overhead cực thấp:</a:t>
            </a:r>
            <a:r>
              <a:rPr lang="en-US" sz="2799">
                <a:solidFill>
                  <a:srgbClr val="57534E"/>
                </a:solidFill>
                <a:latin typeface="Public Sans"/>
                <a:ea typeface="Public Sans"/>
                <a:cs typeface="Public Sans"/>
                <a:sym typeface="Public Sans"/>
              </a:rPr>
              <a:t> Triệt tiêu hoàn toàn phần dư thừa của HTTP Headers trong mỗi lần gửi tọa độ, tiết kiệm tối đa băng thông mạng cho sinh viên.</a:t>
            </a:r>
          </a:p>
        </p:txBody>
      </p:sp>
      <p:sp>
        <p:nvSpPr>
          <p:cNvPr name="TextBox 10" id="10"/>
          <p:cNvSpPr txBox="true"/>
          <p:nvPr/>
        </p:nvSpPr>
        <p:spPr>
          <a:xfrm rot="0">
            <a:off x="1359031" y="7092550"/>
            <a:ext cx="7084147" cy="1686074"/>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Push Model:</a:t>
            </a:r>
            <a:r>
              <a:rPr lang="en-US" sz="2799">
                <a:solidFill>
                  <a:srgbClr val="57534E"/>
                </a:solidFill>
                <a:latin typeface="Public Sans"/>
                <a:ea typeface="Public Sans"/>
                <a:cs typeface="Public Sans"/>
                <a:sym typeface="Public Sans"/>
              </a:rPr>
              <a:t> Cho phép Server "chủ động" đẩy (Push) payload GPS xuống Client với độ trễ tính bằng mili-giây, thay vì đợi Client "hỏi" (Pull).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601888" y="2291523"/>
            <a:ext cx="7256685" cy="6591997"/>
            <a:chOff x="0" y="0"/>
            <a:chExt cx="9675580" cy="8789329"/>
          </a:xfrm>
        </p:grpSpPr>
        <p:sp>
          <p:nvSpPr>
            <p:cNvPr name="Freeform 5" id="5"/>
            <p:cNvSpPr/>
            <p:nvPr/>
          </p:nvSpPr>
          <p:spPr>
            <a:xfrm flipH="false" flipV="false" rot="0">
              <a:off x="0" y="0"/>
              <a:ext cx="9675580" cy="8789329"/>
            </a:xfrm>
            <a:custGeom>
              <a:avLst/>
              <a:gdLst/>
              <a:ahLst/>
              <a:cxnLst/>
              <a:rect r="r" b="b" t="t" l="l"/>
              <a:pathLst>
                <a:path h="8789329" w="9675580">
                  <a:moveTo>
                    <a:pt x="0" y="943779"/>
                  </a:moveTo>
                  <a:cubicBezTo>
                    <a:pt x="0" y="422474"/>
                    <a:pt x="291887" y="0"/>
                    <a:pt x="652056" y="0"/>
                  </a:cubicBezTo>
                  <a:lnTo>
                    <a:pt x="9023524" y="0"/>
                  </a:lnTo>
                  <a:cubicBezTo>
                    <a:pt x="9383693" y="0"/>
                    <a:pt x="9675580" y="422474"/>
                    <a:pt x="9675580" y="943779"/>
                  </a:cubicBezTo>
                  <a:lnTo>
                    <a:pt x="9675580" y="7845551"/>
                  </a:lnTo>
                  <a:cubicBezTo>
                    <a:pt x="9675580" y="8366855"/>
                    <a:pt x="9383693" y="8789329"/>
                    <a:pt x="9023524" y="8789329"/>
                  </a:cubicBezTo>
                  <a:lnTo>
                    <a:pt x="652056" y="8789329"/>
                  </a:lnTo>
                  <a:cubicBezTo>
                    <a:pt x="291887" y="8789329"/>
                    <a:pt x="0" y="8366855"/>
                    <a:pt x="0" y="7845551"/>
                  </a:cubicBezTo>
                  <a:close/>
                </a:path>
              </a:pathLst>
            </a:custGeom>
            <a:solidFill>
              <a:srgbClr val="FFF7ED"/>
            </a:solidFill>
            <a:ln w="28575" cap="sq">
              <a:solidFill>
                <a:srgbClr val="FF6B2B"/>
              </a:solidFill>
              <a:prstDash val="solid"/>
              <a:miter/>
            </a:ln>
          </p:spPr>
        </p:sp>
      </p:grpSp>
      <p:grpSp>
        <p:nvGrpSpPr>
          <p:cNvPr name="Group 6" id="6"/>
          <p:cNvGrpSpPr/>
          <p:nvPr/>
        </p:nvGrpSpPr>
        <p:grpSpPr>
          <a:xfrm rot="0">
            <a:off x="1112441" y="2291523"/>
            <a:ext cx="7256685" cy="6591997"/>
            <a:chOff x="0" y="0"/>
            <a:chExt cx="9675580" cy="8789329"/>
          </a:xfrm>
        </p:grpSpPr>
        <p:sp>
          <p:nvSpPr>
            <p:cNvPr name="Freeform 7" id="7"/>
            <p:cNvSpPr/>
            <p:nvPr/>
          </p:nvSpPr>
          <p:spPr>
            <a:xfrm flipH="false" flipV="false" rot="0">
              <a:off x="0" y="0"/>
              <a:ext cx="9675580" cy="8789329"/>
            </a:xfrm>
            <a:custGeom>
              <a:avLst/>
              <a:gdLst/>
              <a:ahLst/>
              <a:cxnLst/>
              <a:rect r="r" b="b" t="t" l="l"/>
              <a:pathLst>
                <a:path h="8789329" w="9675580">
                  <a:moveTo>
                    <a:pt x="0" y="943779"/>
                  </a:moveTo>
                  <a:cubicBezTo>
                    <a:pt x="0" y="422474"/>
                    <a:pt x="291887" y="0"/>
                    <a:pt x="652056" y="0"/>
                  </a:cubicBezTo>
                  <a:lnTo>
                    <a:pt x="9023524" y="0"/>
                  </a:lnTo>
                  <a:cubicBezTo>
                    <a:pt x="9383693" y="0"/>
                    <a:pt x="9675580" y="422474"/>
                    <a:pt x="9675580" y="943779"/>
                  </a:cubicBezTo>
                  <a:lnTo>
                    <a:pt x="9675580" y="7845551"/>
                  </a:lnTo>
                  <a:cubicBezTo>
                    <a:pt x="9675580" y="8366855"/>
                    <a:pt x="9383693" y="8789329"/>
                    <a:pt x="9023524" y="8789329"/>
                  </a:cubicBezTo>
                  <a:lnTo>
                    <a:pt x="652056" y="8789329"/>
                  </a:lnTo>
                  <a:cubicBezTo>
                    <a:pt x="291887" y="8789329"/>
                    <a:pt x="0" y="8366855"/>
                    <a:pt x="0" y="7845551"/>
                  </a:cubicBezTo>
                  <a:close/>
                </a:path>
              </a:pathLst>
            </a:custGeom>
            <a:solidFill>
              <a:srgbClr val="FFF7ED"/>
            </a:solidFill>
            <a:ln w="28575" cap="sq">
              <a:solidFill>
                <a:srgbClr val="FF6B2B"/>
              </a:solidFill>
              <a:prstDash val="solid"/>
              <a:miter/>
            </a:ln>
          </p:spPr>
        </p:sp>
      </p:grpSp>
      <p:sp>
        <p:nvSpPr>
          <p:cNvPr name="TextBox 8" id="8"/>
          <p:cNvSpPr txBox="true"/>
          <p:nvPr/>
        </p:nvSpPr>
        <p:spPr>
          <a:xfrm rot="0">
            <a:off x="6937902" y="676312"/>
            <a:ext cx="4412196" cy="695251"/>
          </a:xfrm>
          <a:prstGeom prst="rect">
            <a:avLst/>
          </a:prstGeom>
        </p:spPr>
        <p:txBody>
          <a:bodyPr anchor="t" rtlCol="false" tIns="0" lIns="0" bIns="0" rIns="0">
            <a:spAutoFit/>
          </a:bodyPr>
          <a:lstStyle/>
          <a:p>
            <a:pPr algn="l">
              <a:lnSpc>
                <a:spcPts val="5400"/>
              </a:lnSpc>
            </a:pPr>
            <a:r>
              <a:rPr lang="en-US" sz="4500" b="true">
                <a:solidFill>
                  <a:srgbClr val="1C1917"/>
                </a:solidFill>
                <a:latin typeface="Public Sans Bold"/>
                <a:ea typeface="Public Sans Bold"/>
                <a:cs typeface="Public Sans Bold"/>
                <a:sym typeface="Public Sans Bold"/>
              </a:rPr>
              <a:t>Signalr_netc</a:t>
            </a:r>
            <a:r>
              <a:rPr lang="en-US" sz="4500" b="true">
                <a:solidFill>
                  <a:srgbClr val="1C1917"/>
                </a:solidFill>
                <a:latin typeface="Public Sans Bold"/>
                <a:ea typeface="Public Sans Bold"/>
                <a:cs typeface="Public Sans Bold"/>
                <a:sym typeface="Public Sans Bold"/>
              </a:rPr>
              <a:t>ore</a:t>
            </a:r>
          </a:p>
        </p:txBody>
      </p:sp>
      <p:sp>
        <p:nvSpPr>
          <p:cNvPr name="TextBox 9" id="9"/>
          <p:cNvSpPr txBox="true"/>
          <p:nvPr/>
        </p:nvSpPr>
        <p:spPr>
          <a:xfrm rot="0">
            <a:off x="1601839" y="2711372"/>
            <a:ext cx="5937870"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Middleware ASP.NET Core SignalR</a:t>
            </a:r>
          </a:p>
        </p:txBody>
      </p:sp>
      <p:sp>
        <p:nvSpPr>
          <p:cNvPr name="TextBox 10" id="10"/>
          <p:cNvSpPr txBox="true"/>
          <p:nvPr/>
        </p:nvSpPr>
        <p:spPr>
          <a:xfrm rot="0">
            <a:off x="10902491" y="2711372"/>
            <a:ext cx="4214440" cy="428662"/>
          </a:xfrm>
          <a:prstGeom prst="rect">
            <a:avLst/>
          </a:prstGeom>
        </p:spPr>
        <p:txBody>
          <a:bodyPr anchor="t" rtlCol="false" tIns="0" lIns="0" bIns="0" rIns="0">
            <a:spAutoFit/>
          </a:bodyPr>
          <a:lstStyle/>
          <a:p>
            <a:pPr algn="ctr">
              <a:lnSpc>
                <a:spcPts val="3359"/>
              </a:lnSpc>
            </a:pPr>
            <a:r>
              <a:rPr lang="en-US" sz="2799" b="true">
                <a:solidFill>
                  <a:srgbClr val="1C1917"/>
                </a:solidFill>
                <a:latin typeface="Public Sans Bold"/>
                <a:ea typeface="Public Sans Bold"/>
                <a:cs typeface="Public Sans Bold"/>
                <a:sym typeface="Public Sans Bold"/>
              </a:rPr>
              <a:t>Thư viện signalr_netcore</a:t>
            </a:r>
          </a:p>
        </p:txBody>
      </p:sp>
      <p:sp>
        <p:nvSpPr>
          <p:cNvPr name="TextBox 11" id="11"/>
          <p:cNvSpPr txBox="true"/>
          <p:nvPr/>
        </p:nvSpPr>
        <p:spPr>
          <a:xfrm rot="0">
            <a:off x="1028700" y="3416578"/>
            <a:ext cx="7084147" cy="2105211"/>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Quản trị Connection Pool:</a:t>
            </a:r>
            <a:r>
              <a:rPr lang="en-US" sz="2799">
                <a:solidFill>
                  <a:srgbClr val="57534E"/>
                </a:solidFill>
                <a:latin typeface="Public Sans"/>
                <a:ea typeface="Public Sans"/>
                <a:cs typeface="Public Sans"/>
                <a:sym typeface="Public Sans"/>
              </a:rPr>
              <a:t> Đảm nhiệm việc map ID người dùng (Buyer/Shipper) với ConnectionId để định tuyến gói tin GPS đến đúng người nhận.</a:t>
            </a:r>
          </a:p>
        </p:txBody>
      </p:sp>
      <p:sp>
        <p:nvSpPr>
          <p:cNvPr name="TextBox 12" id="12"/>
          <p:cNvSpPr txBox="true"/>
          <p:nvPr/>
        </p:nvSpPr>
        <p:spPr>
          <a:xfrm rot="0">
            <a:off x="1112441" y="5912314"/>
            <a:ext cx="7084147" cy="2105211"/>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Fallback Mechanism:</a:t>
            </a:r>
            <a:r>
              <a:rPr lang="en-US" sz="2799">
                <a:solidFill>
                  <a:srgbClr val="000000"/>
                </a:solidFill>
                <a:latin typeface="Public Sans"/>
                <a:ea typeface="Public Sans"/>
                <a:cs typeface="Public Sans"/>
                <a:sym typeface="Public Sans"/>
              </a:rPr>
              <a:t> </a:t>
            </a:r>
            <a:r>
              <a:rPr lang="en-US" sz="2799">
                <a:solidFill>
                  <a:srgbClr val="57534E"/>
                </a:solidFill>
                <a:latin typeface="Public Sans"/>
                <a:ea typeface="Public Sans"/>
                <a:cs typeface="Public Sans"/>
                <a:sym typeface="Public Sans"/>
              </a:rPr>
              <a:t>Khả năng tự động hạ cấp (downgrade) kết nối xuống Server-Sent Events hoặc Long Polling nếu mạng nội bộ KTX vô tình chặn port của WebSockets.</a:t>
            </a:r>
          </a:p>
        </p:txBody>
      </p:sp>
      <p:sp>
        <p:nvSpPr>
          <p:cNvPr name="TextBox 13" id="13"/>
          <p:cNvSpPr txBox="true"/>
          <p:nvPr/>
        </p:nvSpPr>
        <p:spPr>
          <a:xfrm rot="0">
            <a:off x="9467638" y="3457426"/>
            <a:ext cx="7084147" cy="1686074"/>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Event Listener:</a:t>
            </a:r>
            <a:r>
              <a:rPr lang="en-US" sz="2799">
                <a:solidFill>
                  <a:srgbClr val="000000"/>
                </a:solidFill>
                <a:latin typeface="Public Sans"/>
                <a:ea typeface="Public Sans"/>
                <a:cs typeface="Public Sans"/>
                <a:sym typeface="Public Sans"/>
              </a:rPr>
              <a:t> </a:t>
            </a:r>
            <a:r>
              <a:rPr lang="en-US" sz="2799">
                <a:solidFill>
                  <a:srgbClr val="57534E"/>
                </a:solidFill>
                <a:latin typeface="Public Sans"/>
                <a:ea typeface="Public Sans"/>
                <a:cs typeface="Public Sans"/>
                <a:sym typeface="Public Sans"/>
              </a:rPr>
              <a:t>Khai báo các hàm lắng nghe .on("ReceiveLocation", ...) trong mã nguồn Dart để bắt trực tiếp chuỗi JSON tọa độ ngay khi Hub phát sóng.</a:t>
            </a:r>
          </a:p>
        </p:txBody>
      </p:sp>
      <p:sp>
        <p:nvSpPr>
          <p:cNvPr name="TextBox 14" id="14"/>
          <p:cNvSpPr txBox="true"/>
          <p:nvPr/>
        </p:nvSpPr>
        <p:spPr>
          <a:xfrm rot="0">
            <a:off x="9467638" y="5912314"/>
            <a:ext cx="7084147" cy="2524348"/>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Public Sans"/>
                <a:ea typeface="Public Sans"/>
                <a:cs typeface="Public Sans"/>
                <a:sym typeface="Public Sans"/>
              </a:rPr>
              <a:t>Lifecycle</a:t>
            </a:r>
            <a:r>
              <a:rPr lang="en-US" sz="2799">
                <a:solidFill>
                  <a:srgbClr val="000000"/>
                </a:solidFill>
                <a:latin typeface="Public Sans"/>
                <a:ea typeface="Public Sans"/>
                <a:cs typeface="Public Sans"/>
                <a:sym typeface="Public Sans"/>
              </a:rPr>
              <a:t> </a:t>
            </a:r>
            <a:r>
              <a:rPr lang="en-US" sz="2799">
                <a:solidFill>
                  <a:srgbClr val="000000"/>
                </a:solidFill>
                <a:latin typeface="Public Sans"/>
                <a:ea typeface="Public Sans"/>
                <a:cs typeface="Public Sans"/>
                <a:sym typeface="Public Sans"/>
              </a:rPr>
              <a:t>Managemen</a:t>
            </a:r>
            <a:r>
              <a:rPr lang="en-US" sz="2799">
                <a:solidFill>
                  <a:srgbClr val="000000"/>
                </a:solidFill>
                <a:latin typeface="Public Sans"/>
                <a:ea typeface="Public Sans"/>
                <a:cs typeface="Public Sans"/>
                <a:sym typeface="Public Sans"/>
              </a:rPr>
              <a:t>t</a:t>
            </a:r>
            <a:r>
              <a:rPr lang="en-US" sz="2799">
                <a:solidFill>
                  <a:srgbClr val="000000"/>
                </a:solidFill>
                <a:latin typeface="Public Sans"/>
                <a:ea typeface="Public Sans"/>
                <a:cs typeface="Public Sans"/>
                <a:sym typeface="Public Sans"/>
              </a:rPr>
              <a:t>:</a:t>
            </a:r>
            <a:r>
              <a:rPr lang="en-US" sz="2799">
                <a:solidFill>
                  <a:srgbClr val="57534E"/>
                </a:solidFill>
                <a:latin typeface="Public Sans"/>
                <a:ea typeface="Public Sans"/>
                <a:cs typeface="Public Sans"/>
                <a:sym typeface="Public Sans"/>
              </a:rPr>
              <a:t> Quản lý vòng đời kết nối. Tự động kích hoạt cơ chế withAutomaticReconnect() sử dụng thuật toán Exponential Backoff để phục hồi kết nối ngầm khi thiết bị rớt mạng 4G/WiFi.</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A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271588" y="4057650"/>
            <a:ext cx="4543425" cy="2986088"/>
            <a:chOff x="0" y="0"/>
            <a:chExt cx="6057900" cy="3981450"/>
          </a:xfrm>
        </p:grpSpPr>
        <p:sp>
          <p:nvSpPr>
            <p:cNvPr name="Freeform 5" id="5"/>
            <p:cNvSpPr/>
            <p:nvPr/>
          </p:nvSpPr>
          <p:spPr>
            <a:xfrm flipH="false" flipV="false" rot="0">
              <a:off x="0" y="0"/>
              <a:ext cx="6057900" cy="3981450"/>
            </a:xfrm>
            <a:custGeom>
              <a:avLst/>
              <a:gdLst/>
              <a:ahLst/>
              <a:cxnLst/>
              <a:rect r="r" b="b" t="t" l="l"/>
              <a:pathLst>
                <a:path h="3981450" w="6057900">
                  <a:moveTo>
                    <a:pt x="0" y="637032"/>
                  </a:moveTo>
                  <a:cubicBezTo>
                    <a:pt x="0" y="285163"/>
                    <a:pt x="207391" y="0"/>
                    <a:pt x="463296" y="0"/>
                  </a:cubicBezTo>
                  <a:lnTo>
                    <a:pt x="5594604" y="0"/>
                  </a:lnTo>
                  <a:cubicBezTo>
                    <a:pt x="5850509" y="0"/>
                    <a:pt x="6057900" y="285163"/>
                    <a:pt x="6057900" y="637032"/>
                  </a:cubicBezTo>
                  <a:lnTo>
                    <a:pt x="6057900" y="3344418"/>
                  </a:lnTo>
                  <a:cubicBezTo>
                    <a:pt x="6057900" y="3696287"/>
                    <a:pt x="5850509" y="3981450"/>
                    <a:pt x="5594604" y="3981450"/>
                  </a:cubicBezTo>
                  <a:lnTo>
                    <a:pt x="463296" y="3981450"/>
                  </a:lnTo>
                  <a:cubicBezTo>
                    <a:pt x="207391" y="3981450"/>
                    <a:pt x="0" y="3696287"/>
                    <a:pt x="0" y="3344418"/>
                  </a:cubicBezTo>
                  <a:close/>
                </a:path>
              </a:pathLst>
            </a:custGeom>
            <a:solidFill>
              <a:srgbClr val="FFFFFF"/>
            </a:solidFill>
            <a:ln w="28575" cap="sq">
              <a:solidFill>
                <a:srgbClr val="1C1917"/>
              </a:solidFill>
              <a:prstDash val="solid"/>
              <a:miter/>
            </a:ln>
          </p:spPr>
        </p:sp>
      </p:grpSp>
      <p:grpSp>
        <p:nvGrpSpPr>
          <p:cNvPr name="Group 6" id="6"/>
          <p:cNvGrpSpPr/>
          <p:nvPr/>
        </p:nvGrpSpPr>
        <p:grpSpPr>
          <a:xfrm rot="0">
            <a:off x="6872288" y="4057650"/>
            <a:ext cx="4543425" cy="2986088"/>
            <a:chOff x="0" y="0"/>
            <a:chExt cx="6057900" cy="3981450"/>
          </a:xfrm>
        </p:grpSpPr>
        <p:sp>
          <p:nvSpPr>
            <p:cNvPr name="Freeform 7" id="7"/>
            <p:cNvSpPr/>
            <p:nvPr/>
          </p:nvSpPr>
          <p:spPr>
            <a:xfrm flipH="false" flipV="false" rot="0">
              <a:off x="0" y="0"/>
              <a:ext cx="6057900" cy="3981450"/>
            </a:xfrm>
            <a:custGeom>
              <a:avLst/>
              <a:gdLst/>
              <a:ahLst/>
              <a:cxnLst/>
              <a:rect r="r" b="b" t="t" l="l"/>
              <a:pathLst>
                <a:path h="3981450" w="6057900">
                  <a:moveTo>
                    <a:pt x="0" y="637032"/>
                  </a:moveTo>
                  <a:cubicBezTo>
                    <a:pt x="0" y="285163"/>
                    <a:pt x="207391" y="0"/>
                    <a:pt x="463296" y="0"/>
                  </a:cubicBezTo>
                  <a:lnTo>
                    <a:pt x="5594604" y="0"/>
                  </a:lnTo>
                  <a:cubicBezTo>
                    <a:pt x="5850509" y="0"/>
                    <a:pt x="6057900" y="285163"/>
                    <a:pt x="6057900" y="637032"/>
                  </a:cubicBezTo>
                  <a:lnTo>
                    <a:pt x="6057900" y="3344418"/>
                  </a:lnTo>
                  <a:cubicBezTo>
                    <a:pt x="6057900" y="3696287"/>
                    <a:pt x="5850509" y="3981450"/>
                    <a:pt x="5594604" y="3981450"/>
                  </a:cubicBezTo>
                  <a:lnTo>
                    <a:pt x="463296" y="3981450"/>
                  </a:lnTo>
                  <a:cubicBezTo>
                    <a:pt x="207391" y="3981450"/>
                    <a:pt x="0" y="3696287"/>
                    <a:pt x="0" y="3344418"/>
                  </a:cubicBezTo>
                  <a:close/>
                </a:path>
              </a:pathLst>
            </a:custGeom>
            <a:solidFill>
              <a:srgbClr val="FFF7ED"/>
            </a:solidFill>
            <a:ln w="28575" cap="sq">
              <a:solidFill>
                <a:srgbClr val="FF6B2B"/>
              </a:solidFill>
              <a:prstDash val="solid"/>
              <a:miter/>
            </a:ln>
          </p:spPr>
        </p:sp>
      </p:grpSp>
      <p:grpSp>
        <p:nvGrpSpPr>
          <p:cNvPr name="Group 8" id="8"/>
          <p:cNvGrpSpPr/>
          <p:nvPr/>
        </p:nvGrpSpPr>
        <p:grpSpPr>
          <a:xfrm rot="0">
            <a:off x="12472988" y="4057650"/>
            <a:ext cx="4543425" cy="2986088"/>
            <a:chOff x="0" y="0"/>
            <a:chExt cx="6057900" cy="3981450"/>
          </a:xfrm>
        </p:grpSpPr>
        <p:sp>
          <p:nvSpPr>
            <p:cNvPr name="Freeform 9" id="9"/>
            <p:cNvSpPr/>
            <p:nvPr/>
          </p:nvSpPr>
          <p:spPr>
            <a:xfrm flipH="false" flipV="false" rot="0">
              <a:off x="0" y="0"/>
              <a:ext cx="6057900" cy="3981450"/>
            </a:xfrm>
            <a:custGeom>
              <a:avLst/>
              <a:gdLst/>
              <a:ahLst/>
              <a:cxnLst/>
              <a:rect r="r" b="b" t="t" l="l"/>
              <a:pathLst>
                <a:path h="3981450" w="6057900">
                  <a:moveTo>
                    <a:pt x="0" y="637032"/>
                  </a:moveTo>
                  <a:cubicBezTo>
                    <a:pt x="0" y="285163"/>
                    <a:pt x="207391" y="0"/>
                    <a:pt x="463296" y="0"/>
                  </a:cubicBezTo>
                  <a:lnTo>
                    <a:pt x="5594604" y="0"/>
                  </a:lnTo>
                  <a:cubicBezTo>
                    <a:pt x="5850509" y="0"/>
                    <a:pt x="6057900" y="285163"/>
                    <a:pt x="6057900" y="637032"/>
                  </a:cubicBezTo>
                  <a:lnTo>
                    <a:pt x="6057900" y="3344418"/>
                  </a:lnTo>
                  <a:cubicBezTo>
                    <a:pt x="6057900" y="3696287"/>
                    <a:pt x="5850509" y="3981450"/>
                    <a:pt x="5594604" y="3981450"/>
                  </a:cubicBezTo>
                  <a:lnTo>
                    <a:pt x="463296" y="3981450"/>
                  </a:lnTo>
                  <a:cubicBezTo>
                    <a:pt x="207391" y="3981450"/>
                    <a:pt x="0" y="3696287"/>
                    <a:pt x="0" y="3344418"/>
                  </a:cubicBezTo>
                  <a:close/>
                </a:path>
              </a:pathLst>
            </a:custGeom>
            <a:solidFill>
              <a:srgbClr val="FFFFFF"/>
            </a:solidFill>
            <a:ln w="28575" cap="sq">
              <a:solidFill>
                <a:srgbClr val="1C1917"/>
              </a:solidFill>
              <a:prstDash val="solid"/>
              <a:miter/>
            </a:ln>
          </p:spPr>
        </p:sp>
      </p:grpSp>
      <p:grpSp>
        <p:nvGrpSpPr>
          <p:cNvPr name="Group 10" id="10"/>
          <p:cNvGrpSpPr/>
          <p:nvPr/>
        </p:nvGrpSpPr>
        <p:grpSpPr>
          <a:xfrm rot="0">
            <a:off x="6143625" y="5143500"/>
            <a:ext cx="400050" cy="457200"/>
            <a:chOff x="0" y="0"/>
            <a:chExt cx="533400" cy="609600"/>
          </a:xfrm>
        </p:grpSpPr>
        <p:sp>
          <p:nvSpPr>
            <p:cNvPr name="Freeform 11" id="11" descr="image.png"/>
            <p:cNvSpPr/>
            <p:nvPr/>
          </p:nvSpPr>
          <p:spPr>
            <a:xfrm flipH="false" flipV="false" rot="0">
              <a:off x="0" y="0"/>
              <a:ext cx="533400" cy="609600"/>
            </a:xfrm>
            <a:custGeom>
              <a:avLst/>
              <a:gdLst/>
              <a:ahLst/>
              <a:cxnLst/>
              <a:rect r="r" b="b" t="t" l="l"/>
              <a:pathLst>
                <a:path h="609600" w="533400">
                  <a:moveTo>
                    <a:pt x="0" y="0"/>
                  </a:moveTo>
                  <a:lnTo>
                    <a:pt x="533400" y="0"/>
                  </a:lnTo>
                  <a:lnTo>
                    <a:pt x="533400" y="609600"/>
                  </a:lnTo>
                  <a:lnTo>
                    <a:pt x="0" y="609600"/>
                  </a:lnTo>
                  <a:lnTo>
                    <a:pt x="0" y="0"/>
                  </a:lnTo>
                  <a:close/>
                </a:path>
              </a:pathLst>
            </a:custGeom>
            <a:blipFill>
              <a:blip r:embed="rId3"/>
              <a:stretch>
                <a:fillRect l="0" t="0" r="0" b="0"/>
              </a:stretch>
            </a:blipFill>
          </p:spPr>
        </p:sp>
      </p:grpSp>
      <p:grpSp>
        <p:nvGrpSpPr>
          <p:cNvPr name="Group 12" id="12"/>
          <p:cNvGrpSpPr/>
          <p:nvPr/>
        </p:nvGrpSpPr>
        <p:grpSpPr>
          <a:xfrm rot="0">
            <a:off x="11749088" y="5143500"/>
            <a:ext cx="400050" cy="457200"/>
            <a:chOff x="0" y="0"/>
            <a:chExt cx="533400" cy="609600"/>
          </a:xfrm>
        </p:grpSpPr>
        <p:sp>
          <p:nvSpPr>
            <p:cNvPr name="Freeform 13" id="13" descr="image.png"/>
            <p:cNvSpPr/>
            <p:nvPr/>
          </p:nvSpPr>
          <p:spPr>
            <a:xfrm flipH="false" flipV="false" rot="0">
              <a:off x="0" y="0"/>
              <a:ext cx="533400" cy="609600"/>
            </a:xfrm>
            <a:custGeom>
              <a:avLst/>
              <a:gdLst/>
              <a:ahLst/>
              <a:cxnLst/>
              <a:rect r="r" b="b" t="t" l="l"/>
              <a:pathLst>
                <a:path h="609600" w="533400">
                  <a:moveTo>
                    <a:pt x="0" y="0"/>
                  </a:moveTo>
                  <a:lnTo>
                    <a:pt x="533400" y="0"/>
                  </a:lnTo>
                  <a:lnTo>
                    <a:pt x="533400" y="609600"/>
                  </a:lnTo>
                  <a:lnTo>
                    <a:pt x="0" y="609600"/>
                  </a:lnTo>
                  <a:lnTo>
                    <a:pt x="0" y="0"/>
                  </a:lnTo>
                  <a:close/>
                </a:path>
              </a:pathLst>
            </a:custGeom>
            <a:blipFill>
              <a:blip r:embed="rId3"/>
              <a:stretch>
                <a:fillRect l="0" t="0" r="0" b="0"/>
              </a:stretch>
            </a:blipFill>
          </p:spPr>
        </p:sp>
      </p:grpSp>
      <p:sp>
        <p:nvSpPr>
          <p:cNvPr name="TextBox 14" id="14"/>
          <p:cNvSpPr txBox="true"/>
          <p:nvPr/>
        </p:nvSpPr>
        <p:spPr>
          <a:xfrm rot="0">
            <a:off x="5007173" y="1495164"/>
            <a:ext cx="8273653" cy="695325"/>
          </a:xfrm>
          <a:prstGeom prst="rect">
            <a:avLst/>
          </a:prstGeom>
        </p:spPr>
        <p:txBody>
          <a:bodyPr anchor="t" rtlCol="false" tIns="0" lIns="0" bIns="0" rIns="0">
            <a:spAutoFit/>
          </a:bodyPr>
          <a:lstStyle/>
          <a:p>
            <a:pPr algn="l">
              <a:lnSpc>
                <a:spcPts val="5400"/>
              </a:lnSpc>
            </a:pPr>
            <a:r>
              <a:rPr lang="en-US" sz="4500" b="true">
                <a:solidFill>
                  <a:srgbClr val="1C1917"/>
                </a:solidFill>
                <a:latin typeface="Public Sans Bold"/>
                <a:ea typeface="Public Sans Bold"/>
                <a:cs typeface="Public Sans Bold"/>
                <a:sym typeface="Public Sans Bold"/>
              </a:rPr>
              <a:t>Luồng Đồng bộ Tọa độ Liên tục</a:t>
            </a:r>
          </a:p>
        </p:txBody>
      </p:sp>
      <p:sp>
        <p:nvSpPr>
          <p:cNvPr name="TextBox 15" id="15"/>
          <p:cNvSpPr txBox="true"/>
          <p:nvPr/>
        </p:nvSpPr>
        <p:spPr>
          <a:xfrm rot="0">
            <a:off x="2377008" y="4497100"/>
            <a:ext cx="2332583" cy="419100"/>
          </a:xfrm>
          <a:prstGeom prst="rect">
            <a:avLst/>
          </a:prstGeom>
        </p:spPr>
        <p:txBody>
          <a:bodyPr anchor="t" rtlCol="false" tIns="0" lIns="0" bIns="0" rIns="0">
            <a:spAutoFit/>
          </a:bodyPr>
          <a:lstStyle/>
          <a:p>
            <a:pPr algn="ctr">
              <a:lnSpc>
                <a:spcPts val="3240"/>
              </a:lnSpc>
            </a:pPr>
            <a:r>
              <a:rPr lang="en-US" sz="2700" b="true">
                <a:solidFill>
                  <a:srgbClr val="1C1917"/>
                </a:solidFill>
                <a:latin typeface="Public Sans Bold"/>
                <a:ea typeface="Public Sans Bold"/>
                <a:cs typeface="Public Sans Bold"/>
                <a:sym typeface="Public Sans Bold"/>
              </a:rPr>
              <a:t>1. Shipper App</a:t>
            </a:r>
          </a:p>
        </p:txBody>
      </p:sp>
      <p:sp>
        <p:nvSpPr>
          <p:cNvPr name="TextBox 16" id="16"/>
          <p:cNvSpPr txBox="true"/>
          <p:nvPr/>
        </p:nvSpPr>
        <p:spPr>
          <a:xfrm rot="0">
            <a:off x="1359694" y="5362575"/>
            <a:ext cx="4367213" cy="847799"/>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Đọc GPS và phát sóng tọa độ lên Hub mỗi 3 giây.</a:t>
            </a:r>
          </a:p>
        </p:txBody>
      </p:sp>
      <p:sp>
        <p:nvSpPr>
          <p:cNvPr name="TextBox 17" id="17"/>
          <p:cNvSpPr txBox="true"/>
          <p:nvPr/>
        </p:nvSpPr>
        <p:spPr>
          <a:xfrm rot="0">
            <a:off x="7930009" y="4497100"/>
            <a:ext cx="2427982" cy="419100"/>
          </a:xfrm>
          <a:prstGeom prst="rect">
            <a:avLst/>
          </a:prstGeom>
        </p:spPr>
        <p:txBody>
          <a:bodyPr anchor="t" rtlCol="false" tIns="0" lIns="0" bIns="0" rIns="0">
            <a:spAutoFit/>
          </a:bodyPr>
          <a:lstStyle/>
          <a:p>
            <a:pPr algn="ctr">
              <a:lnSpc>
                <a:spcPts val="3240"/>
              </a:lnSpc>
            </a:pPr>
            <a:r>
              <a:rPr lang="en-US" sz="2700" b="true">
                <a:solidFill>
                  <a:srgbClr val="0F172A"/>
                </a:solidFill>
                <a:latin typeface="Public Sans Bold"/>
                <a:ea typeface="Public Sans Bold"/>
                <a:cs typeface="Public Sans Bold"/>
                <a:sym typeface="Public Sans Bold"/>
              </a:rPr>
              <a:t>2. SignalR Hub</a:t>
            </a:r>
          </a:p>
        </p:txBody>
      </p:sp>
      <p:sp>
        <p:nvSpPr>
          <p:cNvPr name="TextBox 18" id="18"/>
          <p:cNvSpPr txBox="true"/>
          <p:nvPr/>
        </p:nvSpPr>
        <p:spPr>
          <a:xfrm rot="0">
            <a:off x="7131657" y="5362575"/>
            <a:ext cx="4024686" cy="847799"/>
          </a:xfrm>
          <a:prstGeom prst="rect">
            <a:avLst/>
          </a:prstGeom>
        </p:spPr>
        <p:txBody>
          <a:bodyPr anchor="t" rtlCol="false" tIns="0" lIns="0" bIns="0" rIns="0">
            <a:spAutoFit/>
          </a:bodyPr>
          <a:lstStyle/>
          <a:p>
            <a:pPr algn="ctr">
              <a:lnSpc>
                <a:spcPts val="3359"/>
              </a:lnSpc>
            </a:pPr>
            <a:r>
              <a:rPr lang="en-US" sz="2799">
                <a:solidFill>
                  <a:srgbClr val="1C1917"/>
                </a:solidFill>
                <a:latin typeface="Public Sans"/>
                <a:ea typeface="Public Sans"/>
                <a:cs typeface="Public Sans"/>
                <a:sym typeface="Public Sans"/>
              </a:rPr>
              <a:t>Tiếp nhận và phát kênh Broadcast tức thời.</a:t>
            </a:r>
          </a:p>
        </p:txBody>
      </p:sp>
      <p:sp>
        <p:nvSpPr>
          <p:cNvPr name="TextBox 19" id="19"/>
          <p:cNvSpPr txBox="true"/>
          <p:nvPr/>
        </p:nvSpPr>
        <p:spPr>
          <a:xfrm rot="0">
            <a:off x="13698364" y="4497100"/>
            <a:ext cx="2092672" cy="419100"/>
          </a:xfrm>
          <a:prstGeom prst="rect">
            <a:avLst/>
          </a:prstGeom>
        </p:spPr>
        <p:txBody>
          <a:bodyPr anchor="t" rtlCol="false" tIns="0" lIns="0" bIns="0" rIns="0">
            <a:spAutoFit/>
          </a:bodyPr>
          <a:lstStyle/>
          <a:p>
            <a:pPr algn="ctr">
              <a:lnSpc>
                <a:spcPts val="3240"/>
              </a:lnSpc>
            </a:pPr>
            <a:r>
              <a:rPr lang="en-US" sz="2700" b="true">
                <a:solidFill>
                  <a:srgbClr val="1C1917"/>
                </a:solidFill>
                <a:latin typeface="Public Sans Bold"/>
                <a:ea typeface="Public Sans Bold"/>
                <a:cs typeface="Public Sans Bold"/>
                <a:sym typeface="Public Sans Bold"/>
              </a:rPr>
              <a:t>3. Buyer App</a:t>
            </a:r>
          </a:p>
        </p:txBody>
      </p:sp>
      <p:sp>
        <p:nvSpPr>
          <p:cNvPr name="TextBox 20" id="20"/>
          <p:cNvSpPr txBox="true"/>
          <p:nvPr/>
        </p:nvSpPr>
        <p:spPr>
          <a:xfrm rot="0">
            <a:off x="12506813" y="5133975"/>
            <a:ext cx="4475775" cy="1266937"/>
          </a:xfrm>
          <a:prstGeom prst="rect">
            <a:avLst/>
          </a:prstGeom>
        </p:spPr>
        <p:txBody>
          <a:bodyPr anchor="t" rtlCol="false" tIns="0" lIns="0" bIns="0" rIns="0">
            <a:spAutoFit/>
          </a:bodyPr>
          <a:lstStyle/>
          <a:p>
            <a:pPr algn="ctr">
              <a:lnSpc>
                <a:spcPts val="3359"/>
              </a:lnSpc>
            </a:pPr>
            <a:r>
              <a:rPr lang="en-US" sz="2799">
                <a:solidFill>
                  <a:srgbClr val="57534E"/>
                </a:solidFill>
                <a:latin typeface="Public Sans"/>
                <a:ea typeface="Public Sans"/>
                <a:cs typeface="Public Sans"/>
                <a:sym typeface="Public Sans"/>
              </a:rPr>
              <a:t>Nhận tín hiệu và dịch chuyển Marker trên bản đồ.</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12192000" cy="13716000"/>
          </a:xfrm>
        </p:grpSpPr>
        <p:sp>
          <p:nvSpPr>
            <p:cNvPr name="Freeform 3" id="3" descr="image.png"/>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829800" y="685800"/>
            <a:ext cx="7772400" cy="8915400"/>
            <a:chOff x="0" y="0"/>
            <a:chExt cx="10363200" cy="11887200"/>
          </a:xfrm>
        </p:grpSpPr>
        <p:sp>
          <p:nvSpPr>
            <p:cNvPr name="Freeform 5" id="5"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3"/>
              <a:stretch>
                <a:fillRect l="0" t="0" r="0" b="0"/>
              </a:stretch>
            </a:blipFill>
          </p:spPr>
        </p:sp>
      </p:grpSp>
      <p:grpSp>
        <p:nvGrpSpPr>
          <p:cNvPr name="Group 6" id="6"/>
          <p:cNvGrpSpPr/>
          <p:nvPr/>
        </p:nvGrpSpPr>
        <p:grpSpPr>
          <a:xfrm rot="0">
            <a:off x="9829800" y="685800"/>
            <a:ext cx="7772400" cy="8915400"/>
            <a:chOff x="0" y="0"/>
            <a:chExt cx="10363200" cy="11887200"/>
          </a:xfrm>
        </p:grpSpPr>
        <p:sp>
          <p:nvSpPr>
            <p:cNvPr name="Freeform 7" id="7" descr="image.png"/>
            <p:cNvSpPr/>
            <p:nvPr/>
          </p:nvSpPr>
          <p:spPr>
            <a:xfrm flipH="false" flipV="false" rot="0">
              <a:off x="0" y="0"/>
              <a:ext cx="10363200" cy="11887200"/>
            </a:xfrm>
            <a:custGeom>
              <a:avLst/>
              <a:gdLst/>
              <a:ahLst/>
              <a:cxnLst/>
              <a:rect r="r" b="b" t="t" l="l"/>
              <a:pathLst>
                <a:path h="11887200" w="10363200">
                  <a:moveTo>
                    <a:pt x="0" y="0"/>
                  </a:moveTo>
                  <a:lnTo>
                    <a:pt x="10363200" y="0"/>
                  </a:lnTo>
                  <a:lnTo>
                    <a:pt x="10363200" y="11887200"/>
                  </a:lnTo>
                  <a:lnTo>
                    <a:pt x="0" y="11887200"/>
                  </a:lnTo>
                  <a:lnTo>
                    <a:pt x="0" y="0"/>
                  </a:lnTo>
                  <a:close/>
                </a:path>
              </a:pathLst>
            </a:custGeom>
            <a:blipFill>
              <a:blip r:embed="rId4"/>
              <a:stretch>
                <a:fillRect l="0" t="0" r="0" b="0"/>
              </a:stretch>
            </a:blipFill>
          </p:spPr>
        </p:sp>
      </p:grpSp>
      <p:sp>
        <p:nvSpPr>
          <p:cNvPr name="TextBox 8" id="8"/>
          <p:cNvSpPr txBox="true"/>
          <p:nvPr/>
        </p:nvSpPr>
        <p:spPr>
          <a:xfrm rot="0">
            <a:off x="1143000" y="1902323"/>
            <a:ext cx="3006328" cy="428662"/>
          </a:xfrm>
          <a:prstGeom prst="rect">
            <a:avLst/>
          </a:prstGeom>
        </p:spPr>
        <p:txBody>
          <a:bodyPr anchor="t" rtlCol="false" tIns="0" lIns="0" bIns="0" rIns="0">
            <a:spAutoFit/>
          </a:bodyPr>
          <a:lstStyle/>
          <a:p>
            <a:pPr algn="l">
              <a:lnSpc>
                <a:spcPts val="3359"/>
              </a:lnSpc>
            </a:pPr>
            <a:r>
              <a:rPr lang="en-US" sz="2799" b="true">
                <a:solidFill>
                  <a:srgbClr val="0F172A"/>
                </a:solidFill>
                <a:latin typeface="Public Sans Bold"/>
                <a:ea typeface="Public Sans Bold"/>
                <a:cs typeface="Public Sans Bold"/>
                <a:sym typeface="Public Sans Bold"/>
              </a:rPr>
              <a:t>XỬ LÝ GIAO DIỆN</a:t>
            </a:r>
          </a:p>
        </p:txBody>
      </p:sp>
      <p:sp>
        <p:nvSpPr>
          <p:cNvPr name="TextBox 9" id="9"/>
          <p:cNvSpPr txBox="true"/>
          <p:nvPr/>
        </p:nvSpPr>
        <p:spPr>
          <a:xfrm rot="0">
            <a:off x="1143000" y="2388098"/>
            <a:ext cx="7350919" cy="1577340"/>
          </a:xfrm>
          <a:prstGeom prst="rect">
            <a:avLst/>
          </a:prstGeom>
        </p:spPr>
        <p:txBody>
          <a:bodyPr anchor="t" rtlCol="false" tIns="0" lIns="0" bIns="0" rIns="0">
            <a:spAutoFit/>
          </a:bodyPr>
          <a:lstStyle/>
          <a:p>
            <a:pPr algn="l">
              <a:lnSpc>
                <a:spcPts val="6209"/>
              </a:lnSpc>
            </a:pPr>
            <a:r>
              <a:rPr lang="en-US" sz="5400" b="true">
                <a:solidFill>
                  <a:srgbClr val="1C1917"/>
                </a:solidFill>
                <a:latin typeface="Public Sans Bold"/>
                <a:ea typeface="Public Sans Bold"/>
                <a:cs typeface="Public Sans Bold"/>
                <a:sym typeface="Public Sans Bold"/>
              </a:rPr>
              <a:t>Cập nhật UI mượt mà bằng BLoC</a:t>
            </a:r>
          </a:p>
        </p:txBody>
      </p:sp>
      <p:sp>
        <p:nvSpPr>
          <p:cNvPr name="TextBox 10" id="10"/>
          <p:cNvSpPr txBox="true"/>
          <p:nvPr/>
        </p:nvSpPr>
        <p:spPr>
          <a:xfrm rot="0">
            <a:off x="1143000" y="4508002"/>
            <a:ext cx="2539008"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Vấn đề giật lag</a:t>
            </a:r>
          </a:p>
        </p:txBody>
      </p:sp>
      <p:sp>
        <p:nvSpPr>
          <p:cNvPr name="TextBox 11" id="11"/>
          <p:cNvSpPr txBox="true"/>
          <p:nvPr/>
        </p:nvSpPr>
        <p:spPr>
          <a:xfrm rot="0">
            <a:off x="1416885" y="5086692"/>
            <a:ext cx="7000875"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Tọa độ đổi liên tục sẽ làm giật khung hình render bản đồ.</a:t>
            </a:r>
          </a:p>
        </p:txBody>
      </p:sp>
      <p:sp>
        <p:nvSpPr>
          <p:cNvPr name="TextBox 12" id="12"/>
          <p:cNvSpPr txBox="true"/>
          <p:nvPr/>
        </p:nvSpPr>
        <p:spPr>
          <a:xfrm rot="0">
            <a:off x="1143000" y="6084483"/>
            <a:ext cx="2520553"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Kiến trúc BLoC</a:t>
            </a:r>
          </a:p>
        </p:txBody>
      </p:sp>
      <p:sp>
        <p:nvSpPr>
          <p:cNvPr name="TextBox 13" id="13"/>
          <p:cNvSpPr txBox="true"/>
          <p:nvPr/>
        </p:nvSpPr>
        <p:spPr>
          <a:xfrm rot="0">
            <a:off x="1416885" y="6694083"/>
            <a:ext cx="7000875"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Tách biệt hoàn toàn luồng nhận WebSocket khỏi giao diện.</a:t>
            </a:r>
          </a:p>
        </p:txBody>
      </p:sp>
      <p:sp>
        <p:nvSpPr>
          <p:cNvPr name="TextBox 14" id="14"/>
          <p:cNvSpPr txBox="true"/>
          <p:nvPr/>
        </p:nvSpPr>
        <p:spPr>
          <a:xfrm rot="0">
            <a:off x="1188993" y="7867706"/>
            <a:ext cx="2106960" cy="428625"/>
          </a:xfrm>
          <a:prstGeom prst="rect">
            <a:avLst/>
          </a:prstGeom>
        </p:spPr>
        <p:txBody>
          <a:bodyPr anchor="t" rtlCol="false" tIns="0" lIns="0" bIns="0" rIns="0">
            <a:spAutoFit/>
          </a:bodyPr>
          <a:lstStyle/>
          <a:p>
            <a:pPr algn="l">
              <a:lnSpc>
                <a:spcPts val="3359"/>
              </a:lnSpc>
            </a:pPr>
            <a:r>
              <a:rPr lang="en-US" sz="2799" b="true">
                <a:solidFill>
                  <a:srgbClr val="1C1917"/>
                </a:solidFill>
                <a:latin typeface="Public Sans Bold"/>
                <a:ea typeface="Public Sans Bold"/>
                <a:cs typeface="Public Sans Bold"/>
                <a:sym typeface="Public Sans Bold"/>
              </a:rPr>
              <a:t>Vẽ lại cục bộ</a:t>
            </a:r>
          </a:p>
        </p:txBody>
      </p:sp>
      <p:sp>
        <p:nvSpPr>
          <p:cNvPr name="TextBox 15" id="15"/>
          <p:cNvSpPr txBox="true"/>
          <p:nvPr/>
        </p:nvSpPr>
        <p:spPr>
          <a:xfrm rot="0">
            <a:off x="1416885" y="8372531"/>
            <a:ext cx="7000875" cy="847725"/>
          </a:xfrm>
          <a:prstGeom prst="rect">
            <a:avLst/>
          </a:prstGeom>
        </p:spPr>
        <p:txBody>
          <a:bodyPr anchor="t" rtlCol="false" tIns="0" lIns="0" bIns="0" rIns="0">
            <a:spAutoFit/>
          </a:bodyPr>
          <a:lstStyle/>
          <a:p>
            <a:pPr algn="l">
              <a:lnSpc>
                <a:spcPts val="3359"/>
              </a:lnSpc>
            </a:pPr>
            <a:r>
              <a:rPr lang="en-US" sz="2799">
                <a:solidFill>
                  <a:srgbClr val="57534E"/>
                </a:solidFill>
                <a:latin typeface="Public Sans"/>
                <a:ea typeface="Public Sans"/>
                <a:cs typeface="Public Sans"/>
                <a:sym typeface="Public Sans"/>
              </a:rPr>
              <a:t>Chỉ rebuild duy nhất vị trí Marker thay vì load lại toàn bản đồ.</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C1917"/>
        </a:solidFill>
      </p:bgPr>
    </p:bg>
    <p:spTree>
      <p:nvGrpSpPr>
        <p:cNvPr id="1" name=""/>
        <p:cNvGrpSpPr/>
        <p:nvPr/>
      </p:nvGrpSpPr>
      <p:grpSpPr>
        <a:xfrm>
          <a:off x="0" y="0"/>
          <a:ext cx="0" cy="0"/>
          <a:chOff x="0" y="0"/>
          <a:chExt cx="0" cy="0"/>
        </a:xfrm>
      </p:grpSpPr>
      <p:grpSp>
        <p:nvGrpSpPr>
          <p:cNvPr name="Group 2" id="2"/>
          <p:cNvGrpSpPr/>
          <p:nvPr/>
        </p:nvGrpSpPr>
        <p:grpSpPr>
          <a:xfrm rot="0">
            <a:off x="8572500" y="5393531"/>
            <a:ext cx="1143000" cy="57150"/>
            <a:chOff x="0" y="0"/>
            <a:chExt cx="1524000" cy="76200"/>
          </a:xfrm>
        </p:grpSpPr>
        <p:sp>
          <p:nvSpPr>
            <p:cNvPr name="Freeform 3" id="3"/>
            <p:cNvSpPr/>
            <p:nvPr/>
          </p:nvSpPr>
          <p:spPr>
            <a:xfrm flipH="false" flipV="false" rot="0">
              <a:off x="0" y="0"/>
              <a:ext cx="1524000" cy="76200"/>
            </a:xfrm>
            <a:custGeom>
              <a:avLst/>
              <a:gdLst/>
              <a:ahLst/>
              <a:cxnLst/>
              <a:rect r="r" b="b" t="t" l="l"/>
              <a:pathLst>
                <a:path h="76200" w="1524000">
                  <a:moveTo>
                    <a:pt x="0" y="38100"/>
                  </a:moveTo>
                  <a:cubicBezTo>
                    <a:pt x="0" y="17018"/>
                    <a:pt x="17018" y="0"/>
                    <a:pt x="38100" y="0"/>
                  </a:cubicBezTo>
                  <a:lnTo>
                    <a:pt x="1485900" y="0"/>
                  </a:lnTo>
                  <a:cubicBezTo>
                    <a:pt x="1506982" y="0"/>
                    <a:pt x="1524000" y="17018"/>
                    <a:pt x="1524000" y="38100"/>
                  </a:cubicBezTo>
                  <a:cubicBezTo>
                    <a:pt x="1524000" y="59182"/>
                    <a:pt x="1506982" y="76200"/>
                    <a:pt x="1485900" y="76200"/>
                  </a:cubicBezTo>
                  <a:lnTo>
                    <a:pt x="38100" y="76200"/>
                  </a:lnTo>
                  <a:cubicBezTo>
                    <a:pt x="17018" y="76200"/>
                    <a:pt x="0" y="59182"/>
                    <a:pt x="0" y="38100"/>
                  </a:cubicBezTo>
                  <a:close/>
                </a:path>
              </a:pathLst>
            </a:custGeom>
            <a:solidFill>
              <a:srgbClr val="FF6B2B"/>
            </a:solidFill>
          </p:spPr>
        </p:sp>
      </p:grpSp>
      <p:grpSp>
        <p:nvGrpSpPr>
          <p:cNvPr name="Group 4" id="4"/>
          <p:cNvGrpSpPr/>
          <p:nvPr/>
        </p:nvGrpSpPr>
        <p:grpSpPr>
          <a:xfrm rot="0">
            <a:off x="3093244" y="3814762"/>
            <a:ext cx="2628900" cy="1208098"/>
            <a:chOff x="0" y="0"/>
            <a:chExt cx="3505200" cy="1610798"/>
          </a:xfrm>
        </p:grpSpPr>
        <p:sp>
          <p:nvSpPr>
            <p:cNvPr name="Freeform 5" id="5"/>
            <p:cNvSpPr/>
            <p:nvPr/>
          </p:nvSpPr>
          <p:spPr>
            <a:xfrm flipH="false" flipV="false" rot="0">
              <a:off x="0" y="0"/>
              <a:ext cx="3505200" cy="1610798"/>
            </a:xfrm>
            <a:custGeom>
              <a:avLst/>
              <a:gdLst/>
              <a:ahLst/>
              <a:cxnLst/>
              <a:rect r="r" b="b" t="t" l="l"/>
              <a:pathLst>
                <a:path h="1610798" w="3505200">
                  <a:moveTo>
                    <a:pt x="0" y="805399"/>
                  </a:moveTo>
                  <a:cubicBezTo>
                    <a:pt x="0" y="360545"/>
                    <a:pt x="200406" y="0"/>
                    <a:pt x="447675" y="0"/>
                  </a:cubicBezTo>
                  <a:lnTo>
                    <a:pt x="3057525" y="0"/>
                  </a:lnTo>
                  <a:cubicBezTo>
                    <a:pt x="3304794" y="0"/>
                    <a:pt x="3505200" y="360545"/>
                    <a:pt x="3505200" y="805399"/>
                  </a:cubicBezTo>
                  <a:cubicBezTo>
                    <a:pt x="3505200" y="1250253"/>
                    <a:pt x="3304794" y="1610798"/>
                    <a:pt x="3057525" y="1610798"/>
                  </a:cubicBezTo>
                  <a:lnTo>
                    <a:pt x="447675" y="1610798"/>
                  </a:lnTo>
                  <a:cubicBezTo>
                    <a:pt x="200406" y="1610798"/>
                    <a:pt x="0" y="1250253"/>
                    <a:pt x="0" y="805399"/>
                  </a:cubicBezTo>
                  <a:close/>
                </a:path>
              </a:pathLst>
            </a:custGeom>
            <a:blipFill>
              <a:blip r:embed="rId2">
                <a:alphaModFix amt="0"/>
              </a:blip>
              <a:stretch>
                <a:fillRect l="0" t="-14608" r="0" b="29807"/>
              </a:stretch>
            </a:blipFill>
            <a:ln w="14288" cap="sq">
              <a:solidFill>
                <a:srgbClr val="44403C"/>
              </a:solidFill>
              <a:prstDash val="solid"/>
              <a:miter/>
            </a:ln>
          </p:spPr>
        </p:sp>
      </p:grpSp>
      <p:grpSp>
        <p:nvGrpSpPr>
          <p:cNvPr name="Group 6" id="6"/>
          <p:cNvGrpSpPr/>
          <p:nvPr/>
        </p:nvGrpSpPr>
        <p:grpSpPr>
          <a:xfrm rot="0">
            <a:off x="6165056" y="3814762"/>
            <a:ext cx="2414588" cy="1208098"/>
            <a:chOff x="0" y="0"/>
            <a:chExt cx="3219450" cy="1610798"/>
          </a:xfrm>
        </p:grpSpPr>
        <p:sp>
          <p:nvSpPr>
            <p:cNvPr name="Freeform 7" id="7"/>
            <p:cNvSpPr/>
            <p:nvPr/>
          </p:nvSpPr>
          <p:spPr>
            <a:xfrm flipH="false" flipV="false" rot="0">
              <a:off x="0" y="0"/>
              <a:ext cx="3219450" cy="1610798"/>
            </a:xfrm>
            <a:custGeom>
              <a:avLst/>
              <a:gdLst/>
              <a:ahLst/>
              <a:cxnLst/>
              <a:rect r="r" b="b" t="t" l="l"/>
              <a:pathLst>
                <a:path h="1610798" w="3219450">
                  <a:moveTo>
                    <a:pt x="0" y="805399"/>
                  </a:moveTo>
                  <a:cubicBezTo>
                    <a:pt x="0" y="360545"/>
                    <a:pt x="200406" y="0"/>
                    <a:pt x="447675" y="0"/>
                  </a:cubicBezTo>
                  <a:lnTo>
                    <a:pt x="2771775" y="0"/>
                  </a:lnTo>
                  <a:cubicBezTo>
                    <a:pt x="3019044" y="0"/>
                    <a:pt x="3219450" y="360545"/>
                    <a:pt x="3219450" y="805399"/>
                  </a:cubicBezTo>
                  <a:cubicBezTo>
                    <a:pt x="3219450" y="1250253"/>
                    <a:pt x="3019044" y="1610798"/>
                    <a:pt x="2771775" y="1610798"/>
                  </a:cubicBezTo>
                  <a:lnTo>
                    <a:pt x="447675" y="1610798"/>
                  </a:lnTo>
                  <a:cubicBezTo>
                    <a:pt x="200406" y="1610798"/>
                    <a:pt x="0" y="1250253"/>
                    <a:pt x="0" y="805399"/>
                  </a:cubicBezTo>
                  <a:close/>
                </a:path>
              </a:pathLst>
            </a:custGeom>
            <a:blipFill>
              <a:blip r:embed="rId2">
                <a:alphaModFix amt="0"/>
              </a:blip>
              <a:stretch>
                <a:fillRect l="0" t="-11151" r="0" b="33263"/>
              </a:stretch>
            </a:blipFill>
            <a:ln w="14288" cap="sq">
              <a:solidFill>
                <a:srgbClr val="44403C"/>
              </a:solidFill>
              <a:prstDash val="solid"/>
              <a:miter/>
            </a:ln>
          </p:spPr>
        </p:sp>
      </p:grpSp>
      <p:grpSp>
        <p:nvGrpSpPr>
          <p:cNvPr name="Group 8" id="8"/>
          <p:cNvGrpSpPr/>
          <p:nvPr/>
        </p:nvGrpSpPr>
        <p:grpSpPr>
          <a:xfrm rot="0">
            <a:off x="9022551" y="3814762"/>
            <a:ext cx="2771775" cy="1208098"/>
            <a:chOff x="0" y="0"/>
            <a:chExt cx="3695700" cy="1610798"/>
          </a:xfrm>
        </p:grpSpPr>
        <p:sp>
          <p:nvSpPr>
            <p:cNvPr name="Freeform 9" id="9"/>
            <p:cNvSpPr/>
            <p:nvPr/>
          </p:nvSpPr>
          <p:spPr>
            <a:xfrm flipH="false" flipV="false" rot="0">
              <a:off x="0" y="0"/>
              <a:ext cx="3695700" cy="1610798"/>
            </a:xfrm>
            <a:custGeom>
              <a:avLst/>
              <a:gdLst/>
              <a:ahLst/>
              <a:cxnLst/>
              <a:rect r="r" b="b" t="t" l="l"/>
              <a:pathLst>
                <a:path h="1610798" w="3695700">
                  <a:moveTo>
                    <a:pt x="0" y="805399"/>
                  </a:moveTo>
                  <a:cubicBezTo>
                    <a:pt x="0" y="360545"/>
                    <a:pt x="200406" y="0"/>
                    <a:pt x="447675" y="0"/>
                  </a:cubicBezTo>
                  <a:lnTo>
                    <a:pt x="3248025" y="0"/>
                  </a:lnTo>
                  <a:cubicBezTo>
                    <a:pt x="3495294" y="0"/>
                    <a:pt x="3695700" y="360545"/>
                    <a:pt x="3695700" y="805399"/>
                  </a:cubicBezTo>
                  <a:cubicBezTo>
                    <a:pt x="3695700" y="1250253"/>
                    <a:pt x="3495294" y="1610798"/>
                    <a:pt x="3248025" y="1610798"/>
                  </a:cubicBezTo>
                  <a:lnTo>
                    <a:pt x="447675" y="1610798"/>
                  </a:lnTo>
                  <a:cubicBezTo>
                    <a:pt x="200406" y="1610798"/>
                    <a:pt x="0" y="1250253"/>
                    <a:pt x="0" y="805399"/>
                  </a:cubicBezTo>
                  <a:close/>
                </a:path>
              </a:pathLst>
            </a:custGeom>
            <a:blipFill>
              <a:blip r:embed="rId2">
                <a:alphaModFix amt="0"/>
              </a:blip>
              <a:stretch>
                <a:fillRect l="0" t="-16912" r="0" b="27502"/>
              </a:stretch>
            </a:blipFill>
            <a:ln w="14288" cap="sq">
              <a:solidFill>
                <a:srgbClr val="44403C"/>
              </a:solidFill>
              <a:prstDash val="solid"/>
              <a:miter/>
            </a:ln>
          </p:spPr>
        </p:sp>
      </p:grpSp>
      <p:grpSp>
        <p:nvGrpSpPr>
          <p:cNvPr name="Group 10" id="10"/>
          <p:cNvGrpSpPr/>
          <p:nvPr/>
        </p:nvGrpSpPr>
        <p:grpSpPr>
          <a:xfrm rot="0">
            <a:off x="12237244" y="3814762"/>
            <a:ext cx="2957512" cy="1208098"/>
            <a:chOff x="0" y="0"/>
            <a:chExt cx="3943350" cy="1610798"/>
          </a:xfrm>
        </p:grpSpPr>
        <p:sp>
          <p:nvSpPr>
            <p:cNvPr name="Freeform 11" id="11"/>
            <p:cNvSpPr/>
            <p:nvPr/>
          </p:nvSpPr>
          <p:spPr>
            <a:xfrm flipH="false" flipV="false" rot="0">
              <a:off x="0" y="0"/>
              <a:ext cx="3943350" cy="1610798"/>
            </a:xfrm>
            <a:custGeom>
              <a:avLst/>
              <a:gdLst/>
              <a:ahLst/>
              <a:cxnLst/>
              <a:rect r="r" b="b" t="t" l="l"/>
              <a:pathLst>
                <a:path h="1610798" w="3943350">
                  <a:moveTo>
                    <a:pt x="0" y="805399"/>
                  </a:moveTo>
                  <a:cubicBezTo>
                    <a:pt x="0" y="360545"/>
                    <a:pt x="200406" y="0"/>
                    <a:pt x="447675" y="0"/>
                  </a:cubicBezTo>
                  <a:lnTo>
                    <a:pt x="3495675" y="0"/>
                  </a:lnTo>
                  <a:cubicBezTo>
                    <a:pt x="3742944" y="0"/>
                    <a:pt x="3943350" y="360545"/>
                    <a:pt x="3943350" y="805399"/>
                  </a:cubicBezTo>
                  <a:cubicBezTo>
                    <a:pt x="3943350" y="1250253"/>
                    <a:pt x="3742944" y="1610798"/>
                    <a:pt x="3495675" y="1610798"/>
                  </a:cubicBezTo>
                  <a:lnTo>
                    <a:pt x="447675" y="1610798"/>
                  </a:lnTo>
                  <a:cubicBezTo>
                    <a:pt x="200406" y="1610798"/>
                    <a:pt x="0" y="1250253"/>
                    <a:pt x="0" y="805399"/>
                  </a:cubicBezTo>
                  <a:close/>
                </a:path>
              </a:pathLst>
            </a:custGeom>
            <a:blipFill>
              <a:blip r:embed="rId2">
                <a:alphaModFix amt="0"/>
              </a:blip>
              <a:stretch>
                <a:fillRect l="0" t="-19908" r="0" b="24507"/>
              </a:stretch>
            </a:blipFill>
            <a:ln w="14288" cap="sq">
              <a:solidFill>
                <a:srgbClr val="44403C"/>
              </a:solidFill>
              <a:prstDash val="solid"/>
              <a:miter/>
            </a:ln>
          </p:spPr>
        </p:sp>
      </p:grpSp>
      <p:sp>
        <p:nvSpPr>
          <p:cNvPr name="TextBox 12" id="12"/>
          <p:cNvSpPr txBox="true"/>
          <p:nvPr/>
        </p:nvSpPr>
        <p:spPr>
          <a:xfrm rot="0">
            <a:off x="7452454" y="1888331"/>
            <a:ext cx="3382863" cy="352425"/>
          </a:xfrm>
          <a:prstGeom prst="rect">
            <a:avLst/>
          </a:prstGeom>
        </p:spPr>
        <p:txBody>
          <a:bodyPr anchor="t" rtlCol="false" tIns="0" lIns="0" bIns="0" rIns="0">
            <a:spAutoFit/>
          </a:bodyPr>
          <a:lstStyle/>
          <a:p>
            <a:pPr algn="ctr">
              <a:lnSpc>
                <a:spcPts val="2639"/>
              </a:lnSpc>
            </a:pPr>
            <a:r>
              <a:rPr lang="en-US" sz="2199" b="true">
                <a:solidFill>
                  <a:srgbClr val="FF6B2B"/>
                </a:solidFill>
                <a:latin typeface="Public Sans Bold"/>
                <a:ea typeface="Public Sans Bold"/>
                <a:cs typeface="Public Sans Bold"/>
                <a:sym typeface="Public Sans Bold"/>
              </a:rPr>
              <a:t>TỔNG KẾT HỆ SINH THÁI</a:t>
            </a:r>
          </a:p>
        </p:txBody>
      </p:sp>
      <p:sp>
        <p:nvSpPr>
          <p:cNvPr name="TextBox 13" id="13"/>
          <p:cNvSpPr txBox="true"/>
          <p:nvPr/>
        </p:nvSpPr>
        <p:spPr>
          <a:xfrm rot="0">
            <a:off x="7732216" y="2412206"/>
            <a:ext cx="2823567" cy="695325"/>
          </a:xfrm>
          <a:prstGeom prst="rect">
            <a:avLst/>
          </a:prstGeom>
        </p:spPr>
        <p:txBody>
          <a:bodyPr anchor="t" rtlCol="false" tIns="0" lIns="0" bIns="0" rIns="0">
            <a:spAutoFit/>
          </a:bodyPr>
          <a:lstStyle/>
          <a:p>
            <a:pPr algn="ctr">
              <a:lnSpc>
                <a:spcPts val="5400"/>
              </a:lnSpc>
            </a:pPr>
            <a:r>
              <a:rPr lang="en-US" sz="4500" b="true">
                <a:solidFill>
                  <a:srgbClr val="FFFFFF"/>
                </a:solidFill>
                <a:latin typeface="Public Sans Bold"/>
                <a:ea typeface="Public Sans Bold"/>
                <a:cs typeface="Public Sans Bold"/>
                <a:sym typeface="Public Sans Bold"/>
              </a:rPr>
              <a:t>Làng Food</a:t>
            </a:r>
          </a:p>
        </p:txBody>
      </p:sp>
      <p:sp>
        <p:nvSpPr>
          <p:cNvPr name="TextBox 14" id="14"/>
          <p:cNvSpPr txBox="true"/>
          <p:nvPr/>
        </p:nvSpPr>
        <p:spPr>
          <a:xfrm rot="0">
            <a:off x="7969672" y="5898356"/>
            <a:ext cx="2348657" cy="1238250"/>
          </a:xfrm>
          <a:prstGeom prst="rect">
            <a:avLst/>
          </a:prstGeom>
        </p:spPr>
        <p:txBody>
          <a:bodyPr anchor="t" rtlCol="false" tIns="0" lIns="0" bIns="0" rIns="0">
            <a:spAutoFit/>
          </a:bodyPr>
          <a:lstStyle/>
          <a:p>
            <a:pPr algn="ctr">
              <a:lnSpc>
                <a:spcPts val="9720"/>
              </a:lnSpc>
            </a:pPr>
            <a:r>
              <a:rPr lang="en-US" sz="8100" b="true">
                <a:solidFill>
                  <a:srgbClr val="FFFFFF"/>
                </a:solidFill>
                <a:latin typeface="Public Sans Bold"/>
                <a:ea typeface="Public Sans Bold"/>
                <a:cs typeface="Public Sans Bold"/>
                <a:sym typeface="Public Sans Bold"/>
              </a:rPr>
              <a:t>Q&amp;A</a:t>
            </a:r>
          </a:p>
        </p:txBody>
      </p:sp>
      <p:sp>
        <p:nvSpPr>
          <p:cNvPr name="TextBox 15" id="15"/>
          <p:cNvSpPr txBox="true"/>
          <p:nvPr/>
        </p:nvSpPr>
        <p:spPr>
          <a:xfrm rot="0">
            <a:off x="3786188" y="7541419"/>
            <a:ext cx="10715625" cy="419100"/>
          </a:xfrm>
          <a:prstGeom prst="rect">
            <a:avLst/>
          </a:prstGeom>
        </p:spPr>
        <p:txBody>
          <a:bodyPr anchor="t" rtlCol="false" tIns="0" lIns="0" bIns="0" rIns="0">
            <a:spAutoFit/>
          </a:bodyPr>
          <a:lstStyle/>
          <a:p>
            <a:pPr algn="ctr">
              <a:lnSpc>
                <a:spcPts val="3240"/>
              </a:lnSpc>
            </a:pPr>
            <a:r>
              <a:rPr lang="en-US" sz="2700">
                <a:solidFill>
                  <a:srgbClr val="A8A29E"/>
                </a:solidFill>
                <a:latin typeface="Public Sans"/>
                <a:ea typeface="Public Sans"/>
                <a:cs typeface="Public Sans"/>
                <a:sym typeface="Public Sans"/>
              </a:rPr>
              <a:t>Nhóm 13 chân thành cảm ơn đã lắng nghe!</a:t>
            </a:r>
          </a:p>
        </p:txBody>
      </p:sp>
      <p:sp>
        <p:nvSpPr>
          <p:cNvPr name="TextBox 16" id="16"/>
          <p:cNvSpPr txBox="true"/>
          <p:nvPr/>
        </p:nvSpPr>
        <p:spPr>
          <a:xfrm rot="0">
            <a:off x="3116456" y="3983831"/>
            <a:ext cx="2582466" cy="847725"/>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flutter_map &amp; Esri</a:t>
            </a:r>
          </a:p>
        </p:txBody>
      </p:sp>
      <p:sp>
        <p:nvSpPr>
          <p:cNvPr name="TextBox 17" id="17"/>
          <p:cNvSpPr txBox="true"/>
          <p:nvPr/>
        </p:nvSpPr>
        <p:spPr>
          <a:xfrm rot="0">
            <a:off x="6215062" y="3983831"/>
            <a:ext cx="2314575" cy="847725"/>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geolocator GPS</a:t>
            </a:r>
          </a:p>
        </p:txBody>
      </p:sp>
      <p:sp>
        <p:nvSpPr>
          <p:cNvPr name="TextBox 18" id="18"/>
          <p:cNvSpPr txBox="true"/>
          <p:nvPr/>
        </p:nvSpPr>
        <p:spPr>
          <a:xfrm rot="0">
            <a:off x="9027909" y="3983831"/>
            <a:ext cx="2761059" cy="847725"/>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Haversine + OSRM</a:t>
            </a:r>
          </a:p>
        </p:txBody>
      </p:sp>
      <p:sp>
        <p:nvSpPr>
          <p:cNvPr name="TextBox 19" id="19"/>
          <p:cNvSpPr txBox="true"/>
          <p:nvPr/>
        </p:nvSpPr>
        <p:spPr>
          <a:xfrm rot="0">
            <a:off x="12219384" y="3983831"/>
            <a:ext cx="2993231" cy="847725"/>
          </a:xfrm>
          <a:prstGeom prst="rect">
            <a:avLst/>
          </a:prstGeom>
        </p:spPr>
        <p:txBody>
          <a:bodyPr anchor="t" rtlCol="false" tIns="0" lIns="0" bIns="0" rIns="0">
            <a:spAutoFit/>
          </a:bodyPr>
          <a:lstStyle/>
          <a:p>
            <a:pPr algn="ctr">
              <a:lnSpc>
                <a:spcPts val="3359"/>
              </a:lnSpc>
            </a:pPr>
            <a:r>
              <a:rPr lang="en-US" sz="2799">
                <a:solidFill>
                  <a:srgbClr val="D6D3D1"/>
                </a:solidFill>
                <a:latin typeface="Public Sans"/>
                <a:ea typeface="Public Sans"/>
                <a:cs typeface="Public Sans"/>
                <a:sym typeface="Public Sans"/>
              </a:rPr>
              <a:t>SignalR WebSockets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DAHWlmUozO8</dc:identifier>
  <dcterms:modified xsi:type="dcterms:W3CDTF">2011-08-01T06:04:30Z</dcterms:modified>
  <cp:revision>1</cp:revision>
  <dc:title>Đồ án Làng Food - Nhóm 13 (1).pptx</dc:title>
</cp:coreProperties>
</file>